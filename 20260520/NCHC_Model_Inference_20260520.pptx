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15"/>
    <p:sldId id="275" r:id="rId16"/>
    <p:sldId id="273" r:id="rId17"/>
  </p:sldIdLst>
  <p:sldSz cx="12192000" cy="6858000"/>
  <p:notesSz cx="6858000" cy="9144000"/>
  <p:embeddedFontLst>
    <p:embeddedFont>
      <p:font typeface="DM Sans" pitchFamily="2" charset="0"/>
      <p:regular r:id="rId19"/>
      <p:bold r:id="rId20"/>
      <p:italic r:id="rId21"/>
      <p:boldItalic r:id="rId22"/>
    </p:embeddedFont>
    <p:embeddedFont>
      <p:font typeface="Roboto Mono" panose="00000009000000000000" pitchFamily="49" charset="0"/>
      <p:regular r:id="rId23"/>
      <p:bold r:id="rId24"/>
      <p:italic r:id="rId25"/>
      <p:boldItalic r:id="rId26"/>
    </p:embeddedFont>
    <p:embeddedFont>
      <p:font typeface="Urbanist" panose="02020500000000000000" charset="0"/>
      <p:regular r:id="rId27"/>
      <p:bold r:id="rId28"/>
      <p:italic r:id="rId29"/>
      <p:boldItalic r:id="rId30"/>
    </p:embeddedFont>
    <p:embeddedFont>
      <p:font typeface="Urbanist ExtraBold" panose="02020500000000000000" charset="0"/>
      <p:bold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C5006B6-BB06-468E-9280-3B92FF2094B0}">
  <a:tblStyle styleId="{6C5006B6-BB06-468E-9280-3B92FF2094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B927E3F4-8605-4116-A8B5-786CC9A54D7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e867dac6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dk1"/>
                </a:solidFill>
              </a:rPr>
              <a:t>vLLM</a:t>
            </a:r>
            <a:r>
              <a:rPr lang="en-US" dirty="0">
                <a:solidFill>
                  <a:schemeClr val="dk1"/>
                </a:solidFill>
              </a:rPr>
              <a:t> 的 </a:t>
            </a:r>
            <a:r>
              <a:rPr lang="en-US" b="1" dirty="0" err="1">
                <a:solidFill>
                  <a:schemeClr val="dk1"/>
                </a:solidFill>
              </a:rPr>
              <a:t>PagedAttention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 err="1">
                <a:solidFill>
                  <a:schemeClr val="dk1"/>
                </a:solidFill>
              </a:rPr>
              <a:t>技術，更有效地管理</a:t>
            </a:r>
            <a:r>
              <a:rPr lang="en-US" dirty="0">
                <a:solidFill>
                  <a:schemeClr val="dk1"/>
                </a:solidFill>
              </a:rPr>
              <a:t> KV Cache ，</a:t>
            </a:r>
            <a:r>
              <a:rPr lang="en-US" dirty="0" err="1">
                <a:solidFill>
                  <a:schemeClr val="dk1"/>
                </a:solidFill>
              </a:rPr>
              <a:t>在相同的</a:t>
            </a:r>
            <a:r>
              <a:rPr lang="en-US" dirty="0">
                <a:solidFill>
                  <a:schemeClr val="dk1"/>
                </a:solidFill>
              </a:rPr>
              <a:t> VRAM </a:t>
            </a:r>
            <a:r>
              <a:rPr lang="en-US" dirty="0" err="1">
                <a:solidFill>
                  <a:schemeClr val="dk1"/>
                </a:solidFill>
              </a:rPr>
              <a:t>下支援更高的併發請求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128" name="Google Shape;128;g3de867dac6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e867dac61_0_1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3de867dac61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e867dac61_0_3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記憶體壓力的兩大來源</a:t>
            </a:r>
            <a:endParaRPr/>
          </a:p>
        </p:txBody>
      </p:sp>
      <p:sp>
        <p:nvSpPr>
          <p:cNvPr id="157" name="Google Shape;157;g3de867dac61_0_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e867dac61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通常用1.5 倍做為預估緩衝</a:t>
            </a:r>
            <a:endParaRPr/>
          </a:p>
        </p:txBody>
      </p:sp>
      <p:sp>
        <p:nvSpPr>
          <p:cNvPr id="170" name="Google Shape;170;g3de867dac61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e867dac61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3de867dac61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e867dac61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de867dac61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e867dac61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g3de867dac61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libsndfile1</a:t>
            </a:r>
            <a:r>
              <a:rPr lang="en-US">
                <a:solidFill>
                  <a:schemeClr val="dk1"/>
                </a:solidFill>
              </a:rPr>
              <a:t> 與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ffmpeg</a:t>
            </a:r>
            <a:r>
              <a:rPr lang="en-US">
                <a:solidFill>
                  <a:schemeClr val="dk1"/>
                </a:solidFill>
              </a:rPr>
              <a:t> 是為了處理不同格式音訊（如 mp3/wav）進入 Whisper 的必要套件</a:t>
            </a:r>
            <a:endParaRPr/>
          </a:p>
        </p:txBody>
      </p:sp>
      <p:sp>
        <p:nvSpPr>
          <p:cNvPr id="221" name="Google Shape;2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32515CFD-DED6-5480-1152-E2D190AD0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>
            <a:extLst>
              <a:ext uri="{FF2B5EF4-FFF2-40B4-BE49-F238E27FC236}">
                <a16:creationId xmlns:a16="http://schemas.microsoft.com/office/drawing/2014/main" id="{DDF6D387-D153-EC14-B1BE-50DEF8473D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libsndfile1</a:t>
            </a:r>
            <a:r>
              <a:rPr lang="en-US">
                <a:solidFill>
                  <a:schemeClr val="dk1"/>
                </a:solidFill>
              </a:rPr>
              <a:t> 與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ffmpeg</a:t>
            </a:r>
            <a:r>
              <a:rPr lang="en-US">
                <a:solidFill>
                  <a:schemeClr val="dk1"/>
                </a:solidFill>
              </a:rPr>
              <a:t> 是為了處理不同格式音訊（如 mp3/wav）進入 Whisper 的必要套件</a:t>
            </a:r>
            <a:endParaRPr/>
          </a:p>
        </p:txBody>
      </p:sp>
      <p:sp>
        <p:nvSpPr>
          <p:cNvPr id="221" name="Google Shape;221;p9:notes">
            <a:extLst>
              <a:ext uri="{FF2B5EF4-FFF2-40B4-BE49-F238E27FC236}">
                <a16:creationId xmlns:a16="http://schemas.microsoft.com/office/drawing/2014/main" id="{39C427A6-4165-511E-09E2-189773AFC1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14721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78BA5A99-0F14-10AD-0F8A-9287BE5A1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>
            <a:extLst>
              <a:ext uri="{FF2B5EF4-FFF2-40B4-BE49-F238E27FC236}">
                <a16:creationId xmlns:a16="http://schemas.microsoft.com/office/drawing/2014/main" id="{0C5B7726-1EC4-2233-2199-D333F8AEB3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" name="Google Shape;221;p9:notes">
            <a:extLst>
              <a:ext uri="{FF2B5EF4-FFF2-40B4-BE49-F238E27FC236}">
                <a16:creationId xmlns:a16="http://schemas.microsoft.com/office/drawing/2014/main" id="{C14B88B8-40FD-34CE-2F13-3E3F6F64C8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31762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hyperlink" Target="https://huggingface.co/nvidia/NVIDIA-Nemotron-3-Nano-30B-A3B-FP8" TargetMode="External"/><Relationship Id="rId4" Type="http://schemas.openxmlformats.org/officeDocument/2006/relationships/hyperlink" Target="https://huggingface.co/openai/whisper-large-v3-turbo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vllm.ai/en/latest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recipes.vllm.ai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hyperlink" Target="https://docs.nvidia.com/datacenter/cloud-native/container-toolkit/latest/install-guide.html" TargetMode="External"/><Relationship Id="rId4" Type="http://schemas.openxmlformats.org/officeDocument/2006/relationships/hyperlink" Target="https://docs.docker.com/engine/install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2173634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Model </a:t>
            </a:r>
            <a:r>
              <a:rPr lang="en-US" sz="60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Inference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565377"/>
            <a:ext cx="11049000" cy="1440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NCHC LLM</a:t>
            </a:r>
            <a:endParaRPr sz="1950" dirty="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1950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蔡顓澤</a:t>
            </a:r>
            <a:endParaRPr sz="1950" dirty="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2026/</a:t>
            </a:r>
            <a:r>
              <a:rPr lang="en-US" altLang="zh-TW" sz="1950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05</a:t>
            </a:r>
            <a:r>
              <a:rPr lang="en-US" sz="1950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/</a:t>
            </a:r>
            <a:r>
              <a:rPr lang="en-US" altLang="zh-TW" sz="1950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20</a:t>
            </a:r>
            <a:r>
              <a:rPr lang="en-US" sz="1950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950" dirty="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258975"/>
            <a:ext cx="8577300" cy="669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Deploying</a:t>
            </a:r>
            <a:r>
              <a:rPr lang="zh-TW" altLang="en-US" sz="2100" dirty="0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dirty="0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models with docker vLLM.</a:t>
            </a:r>
            <a:endParaRPr dirty="0">
              <a:solidFill>
                <a:srgbClr val="DEFF9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Agenda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71500" y="571500"/>
            <a:ext cx="47700" cy="5526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664525" y="1468225"/>
            <a:ext cx="10075800" cy="44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810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400"/>
              <a:buFont typeface="DM Sans"/>
              <a:buChar char="●"/>
            </a:pPr>
            <a:r>
              <a:rPr lang="en-US" sz="2400" b="1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Pre-flight Check​</a:t>
            </a:r>
            <a:endParaRPr sz="2400" b="1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marR="0" lvl="0" indent="-3810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400"/>
              <a:buFont typeface="DM Sans"/>
              <a:buAutoNum type="arabicPeriod"/>
            </a:pPr>
            <a:r>
              <a:rPr lang="en-US" sz="2400" b="1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Model Review on Hugging Face​</a:t>
            </a:r>
            <a:endParaRPr sz="2400" b="1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marR="0" lvl="0" indent="-3810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400"/>
              <a:buFont typeface="DM Sans"/>
              <a:buAutoNum type="arabicPeriod"/>
            </a:pPr>
            <a:r>
              <a:rPr lang="en-US" sz="2400" b="1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Inference Framework - vLLM​</a:t>
            </a:r>
            <a:endParaRPr sz="2400" b="1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marR="0" lvl="0" indent="-3810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400"/>
              <a:buFont typeface="DM Sans"/>
              <a:buAutoNum type="arabicPeriod"/>
            </a:pPr>
            <a:r>
              <a:rPr lang="en-US" sz="2400" b="1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Resource Planning</a:t>
            </a:r>
            <a:endParaRPr sz="2400" b="1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810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400"/>
              <a:buFont typeface="DM Sans"/>
              <a:buChar char="●"/>
            </a:pPr>
            <a:r>
              <a:rPr lang="en-US" sz="2400" b="1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Discussion</a:t>
            </a:r>
            <a:endParaRPr sz="2400" b="1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810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400"/>
              <a:buFont typeface="DM Sans"/>
              <a:buChar char="●"/>
            </a:pPr>
            <a:r>
              <a:rPr lang="en-US" sz="2400" b="1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Setup with Docker vLLM</a:t>
            </a:r>
            <a:endParaRPr sz="2400" b="1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8100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400"/>
              <a:buFont typeface="DM Sans"/>
              <a:buChar char="●"/>
            </a:pPr>
            <a:r>
              <a:rPr lang="en-US" sz="2400" b="1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Demo​</a:t>
            </a:r>
            <a:endParaRPr sz="2400" b="1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50" b="1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71700"/>
            <a:ext cx="3492400" cy="4053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171699"/>
            <a:ext cx="3492549" cy="405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171700"/>
            <a:ext cx="3492400" cy="405382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961975" y="3101809"/>
            <a:ext cx="2847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Model Review</a:t>
            </a:r>
            <a:r>
              <a:rPr lang="zh-TW" altLang="en-US" sz="2100" b="1" dirty="0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altLang="zh-TW" sz="2100" b="1" dirty="0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on HF</a:t>
            </a:r>
            <a:endParaRPr dirty="0"/>
          </a:p>
        </p:txBody>
      </p:sp>
      <p:sp>
        <p:nvSpPr>
          <p:cNvPr id="105" name="Google Shape;105;p15"/>
          <p:cNvSpPr txBox="1"/>
          <p:nvPr/>
        </p:nvSpPr>
        <p:spPr>
          <a:xfrm>
            <a:off x="961975" y="4447725"/>
            <a:ext cx="2711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4740175" y="3015263"/>
            <a:ext cx="2847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Inference Framework</a:t>
            </a:r>
            <a:endParaRPr sz="2100" b="1" dirty="0">
              <a:solidFill>
                <a:srgbClr val="F1F5F9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8518450" y="3778125"/>
            <a:ext cx="27114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15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quest and limits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sz="15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238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DM Sans"/>
              <a:buChar char="●"/>
            </a:pPr>
            <a:r>
              <a:rPr lang="en-US" sz="15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GPU VRAM</a:t>
            </a:r>
            <a:endParaRPr sz="15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238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DM Sans"/>
              <a:buChar char="●"/>
            </a:pPr>
            <a:r>
              <a:rPr lang="en-US" sz="15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CPU RAM</a:t>
            </a:r>
            <a:endParaRPr sz="15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8518475" y="3131925"/>
            <a:ext cx="2847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dirty="0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Resource Planning</a:t>
            </a:r>
            <a:endParaRPr dirty="0"/>
          </a:p>
        </p:txBody>
      </p:sp>
      <p:pic>
        <p:nvPicPr>
          <p:cNvPr id="109" name="Google Shape;109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40175" y="26003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18475" y="260032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1975" y="2558063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Pre-flight Check: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Before </a:t>
            </a:r>
            <a:r>
              <a:rPr lang="en-US" sz="3600" b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Deployment​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4740175" y="3778125"/>
            <a:ext cx="2711400" cy="24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Choose:</a:t>
            </a:r>
            <a:endParaRPr sz="15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238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DM Sans"/>
              <a:buChar char="●"/>
            </a:pPr>
            <a:r>
              <a:rPr lang="en-US" sz="15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vLLM / </a:t>
            </a:r>
            <a:r>
              <a:rPr lang="en-US" sz="150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Ollama</a:t>
            </a:r>
            <a:r>
              <a:rPr lang="en-US" sz="15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/ </a:t>
            </a:r>
            <a:r>
              <a:rPr lang="en-US" sz="150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Sglang</a:t>
            </a:r>
            <a:endParaRPr sz="15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238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DM Sans"/>
              <a:buChar char="●"/>
            </a:pPr>
            <a:r>
              <a:rPr lang="en-US" sz="15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python / docker / k8s</a:t>
            </a:r>
            <a:endParaRPr sz="15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Check:</a:t>
            </a:r>
            <a:endParaRPr sz="15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238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DM Sans"/>
              <a:buChar char="●"/>
            </a:pPr>
            <a:r>
              <a:rPr lang="en-US" sz="15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Model supported</a:t>
            </a:r>
            <a:endParaRPr sz="15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238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DM Sans"/>
              <a:buChar char="●"/>
            </a:pPr>
            <a:r>
              <a:rPr lang="en-US" sz="15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Arguments…</a:t>
            </a:r>
            <a:endParaRPr sz="15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961975" y="3778125"/>
            <a:ext cx="27114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Key info:</a:t>
            </a:r>
            <a:endParaRPr sz="15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238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DM Sans"/>
              <a:buChar char="●"/>
            </a:pPr>
            <a:r>
              <a:rPr lang="en-US" sz="15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model type</a:t>
            </a:r>
            <a:endParaRPr sz="15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marR="0" lvl="0" indent="-3238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DM Sans"/>
              <a:buChar char="●"/>
            </a:pPr>
            <a:r>
              <a:rPr lang="en-US" sz="15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precision …</a:t>
            </a:r>
            <a:endParaRPr sz="15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809625" y="571500"/>
            <a:ext cx="113514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Hugging Face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Model Review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571500" y="571500"/>
            <a:ext cx="47700" cy="5526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2123550"/>
            <a:ext cx="5810100" cy="4396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400"/>
              <a:buFont typeface="DM Sans"/>
              <a:buChar char="●"/>
            </a:pPr>
            <a:r>
              <a:rPr lang="en-US" sz="24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Introduction​</a:t>
            </a:r>
            <a:endParaRPr sz="24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400"/>
              <a:buFont typeface="DM Sans"/>
              <a:buChar char="●"/>
            </a:pPr>
            <a:r>
              <a:rPr lang="en-US" sz="24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Model card​</a:t>
            </a:r>
            <a:endParaRPr sz="24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400"/>
              <a:buFont typeface="DM Sans"/>
              <a:buChar char="●"/>
            </a:pPr>
            <a:r>
              <a:rPr lang="en-US" sz="24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Model type​</a:t>
            </a:r>
            <a:endParaRPr sz="24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400"/>
              <a:buFont typeface="DM Sans"/>
              <a:buChar char="●"/>
            </a:pPr>
            <a:r>
              <a:rPr lang="en-US" sz="24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Precision​</a:t>
            </a:r>
            <a:endParaRPr sz="24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400"/>
              <a:buFont typeface="DM Sans"/>
              <a:buChar char="●"/>
            </a:pPr>
            <a:r>
              <a:rPr lang="en-US" sz="24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Max token length​</a:t>
            </a:r>
            <a:endParaRPr sz="24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400"/>
              <a:buFont typeface="DM Sans"/>
              <a:buChar char="●"/>
            </a:pPr>
            <a:r>
              <a:rPr lang="en-US" sz="24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License / access requirements​ </a:t>
            </a:r>
            <a:endParaRPr sz="24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(HF token)</a:t>
            </a:r>
            <a:endParaRPr sz="24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400"/>
              <a:buFont typeface="DM Sans"/>
              <a:buChar char="●"/>
            </a:pPr>
            <a:r>
              <a:rPr lang="en-US" sz="24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Architectures​ (for supported model)</a:t>
            </a:r>
            <a:endParaRPr sz="24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81000">
              <a:lnSpc>
                <a:spcPct val="115000"/>
              </a:lnSpc>
              <a:buClr>
                <a:srgbClr val="CBD5E1"/>
              </a:buClr>
              <a:buSzPts val="2400"/>
              <a:buFont typeface="DM Sans"/>
              <a:buChar char="●"/>
            </a:pPr>
            <a:r>
              <a:rPr lang="en-US" sz="24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  <a:r>
              <a:rPr lang="en-US" sz="2400" dirty="0">
                <a:solidFill>
                  <a:srgbClr val="CBD5E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2200" u="sng" dirty="0">
                <a:solidFill>
                  <a:srgbClr val="DEFF9A"/>
                </a:solidFill>
                <a:hlinkClick r:id="rId5"/>
              </a:rPr>
              <a:t>nvidia/NVIDIA-Nemotron-3-Nano-30B-A3B-FP8</a:t>
            </a:r>
            <a:endParaRPr sz="3500" dirty="0">
              <a:solidFill>
                <a:srgbClr val="DEFF9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571500" y="1420875"/>
            <a:ext cx="6819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Docs walkthrough:</a:t>
            </a:r>
            <a:endParaRPr sz="230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AF5ED21-9134-751F-82B2-F68DB39A4F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925" y="1274818"/>
            <a:ext cx="5810100" cy="50980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 rotWithShape="1">
          <a:blip r:embed="rId4">
            <a:alphaModFix/>
          </a:blip>
          <a:srcRect l="21710" t="14877" r="20614" b="64951"/>
          <a:stretch/>
        </p:blipFill>
        <p:spPr>
          <a:xfrm>
            <a:off x="8064400" y="245625"/>
            <a:ext cx="3684049" cy="139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vLLM</a:t>
            </a:r>
            <a:r>
              <a:rPr lang="en-US" sz="3600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Inference framework</a:t>
            </a:r>
            <a:endParaRPr dirty="0"/>
          </a:p>
        </p:txBody>
      </p:sp>
      <p:sp>
        <p:nvSpPr>
          <p:cNvPr id="133" name="Google Shape;133;p17"/>
          <p:cNvSpPr/>
          <p:nvPr/>
        </p:nvSpPr>
        <p:spPr>
          <a:xfrm>
            <a:off x="571500" y="571500"/>
            <a:ext cx="47700" cy="5526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047875"/>
            <a:ext cx="3365450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13200" y="2047875"/>
            <a:ext cx="3365450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64400" y="2047875"/>
            <a:ext cx="3365599" cy="378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52525" y="2438400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/>
        </p:nvSpPr>
        <p:spPr>
          <a:xfrm>
            <a:off x="1152525" y="3124200"/>
            <a:ext cx="2713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PagedAttention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1152525" y="3657600"/>
            <a:ext cx="2584500" cy="13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vLLM's breakthrough in KV Cache management, reducing fragmentation and boosting batching.</a:t>
            </a:r>
            <a:endParaRPr/>
          </a:p>
        </p:txBody>
      </p:sp>
      <p:pic>
        <p:nvPicPr>
          <p:cNvPr id="140" name="Google Shape;14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03725" y="24384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4803725" y="3124200"/>
            <a:ext cx="2713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Continuous Batching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4803725" y="3657600"/>
            <a:ext cx="2584500" cy="13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Dynamically adding new requests to the batch without waiting for the entire batch to finish.</a:t>
            </a:r>
            <a:endParaRPr/>
          </a:p>
        </p:txBody>
      </p:sp>
      <p:pic>
        <p:nvPicPr>
          <p:cNvPr id="143" name="Google Shape;143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454925" y="24384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/>
        </p:nvSpPr>
        <p:spPr>
          <a:xfrm>
            <a:off x="8454925" y="3124200"/>
            <a:ext cx="27138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Quantization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454925" y="3657600"/>
            <a:ext cx="2584500" cy="17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Native support for AWQ and FP8 to shrink VRAM footprint while maintaining high throughput.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vLLM </a:t>
            </a:r>
            <a:r>
              <a:rPr lang="en-US" sz="3600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Inference framework</a:t>
            </a:r>
            <a:endParaRPr dirty="0"/>
          </a:p>
        </p:txBody>
      </p:sp>
      <p:sp>
        <p:nvSpPr>
          <p:cNvPr id="151" name="Google Shape;151;p18"/>
          <p:cNvSpPr/>
          <p:nvPr/>
        </p:nvSpPr>
        <p:spPr>
          <a:xfrm>
            <a:off x="571500" y="571500"/>
            <a:ext cx="47700" cy="5526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571500" y="1927100"/>
            <a:ext cx="11246100" cy="28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400"/>
              <a:buFont typeface="DM Sans"/>
              <a:buChar char="●"/>
            </a:pPr>
            <a:r>
              <a:rPr lang="en-US" sz="2200" u="sng" dirty="0">
                <a:solidFill>
                  <a:srgbClr val="DEFF9A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vLLM</a:t>
            </a:r>
            <a:r>
              <a:rPr lang="en-US" sz="24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(check version)</a:t>
            </a:r>
            <a:endParaRPr sz="24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400"/>
              <a:buFont typeface="DM Sans"/>
              <a:buChar char="●"/>
            </a:pPr>
            <a:r>
              <a:rPr lang="en-US" sz="24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Check supported model</a:t>
            </a:r>
            <a:endParaRPr sz="24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400"/>
              <a:buFont typeface="DM Sans"/>
              <a:buChar char="●"/>
            </a:pPr>
            <a:r>
              <a:rPr lang="en-US" sz="24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Key serving parameters (Configuration/Engine Arguments) </a:t>
            </a:r>
            <a:endParaRPr sz="24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000"/>
              <a:buFont typeface="DM Sans"/>
              <a:buChar char="●"/>
            </a:pPr>
            <a:r>
              <a:rPr lang="en-US" sz="20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Deploy popular models: </a:t>
            </a:r>
            <a:r>
              <a:rPr lang="en-US" sz="2200" u="sng" dirty="0">
                <a:solidFill>
                  <a:srgbClr val="DEFF9A"/>
                </a:solidFill>
                <a:hlinkClick r:id="rId4"/>
              </a:rPr>
              <a:t>vLLM Recipes</a:t>
            </a:r>
            <a:endParaRPr sz="2200" u="sng" dirty="0">
              <a:solidFill>
                <a:srgbClr val="DEFF9A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500" dirty="0">
              <a:solidFill>
                <a:srgbClr val="DEFF9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696725" y="14345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Docs walkthrough:</a:t>
            </a:r>
            <a:endParaRPr sz="240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25" y="2759350"/>
            <a:ext cx="11572775" cy="267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Resource Planning -  </a:t>
            </a:r>
            <a:r>
              <a:rPr lang="en-US" sz="3600" b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GPU (VRAM) sizing</a:t>
            </a:r>
            <a:endParaRPr>
              <a:solidFill>
                <a:srgbClr val="DEFF9A"/>
              </a:solidFill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571500" y="571500"/>
            <a:ext cx="47700" cy="5526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1420700" y="2956175"/>
            <a:ext cx="11351400" cy="22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5650" tIns="255650" rIns="255650" bIns="25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Total VRAM = </a:t>
            </a:r>
            <a:r>
              <a:rPr lang="en-US" sz="2600" dirty="0" err="1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Memory_Weights</a:t>
            </a:r>
            <a:r>
              <a:rPr lang="en-US" sz="2600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+  ( </a:t>
            </a:r>
            <a:r>
              <a:rPr lang="en-US" sz="2600" dirty="0" err="1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Memory_KV</a:t>
            </a:r>
            <a:r>
              <a:rPr lang="en-US" sz="2600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* </a:t>
            </a:r>
            <a:r>
              <a:rPr lang="en-US" sz="2600" dirty="0" err="1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Context_Length</a:t>
            </a:r>
            <a:r>
              <a:rPr lang="en-US" sz="2600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) + Buffer</a:t>
            </a:r>
            <a:endParaRPr sz="2600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 err="1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Memory_Weights</a:t>
            </a:r>
            <a:r>
              <a:rPr lang="en-US" sz="2600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= parameters * </a:t>
            </a:r>
            <a:r>
              <a:rPr lang="en-US" sz="2600" dirty="0" err="1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bytes_per_parms</a:t>
            </a:r>
            <a:endParaRPr sz="2600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 err="1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Memory_KV</a:t>
            </a:r>
            <a:r>
              <a:rPr lang="en-US" sz="2600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= 2 * layers * heads * dimension * </a:t>
            </a:r>
            <a:r>
              <a:rPr lang="en-US" sz="2600" dirty="0" err="1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bytes_per_parms</a:t>
            </a:r>
            <a:endParaRPr sz="2600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571500" y="1680875"/>
            <a:ext cx="4782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How to estimate?</a:t>
            </a:r>
            <a:endParaRPr sz="220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3532900" y="3173943"/>
            <a:ext cx="2456100" cy="554100"/>
          </a:xfrm>
          <a:prstGeom prst="rect">
            <a:avLst/>
          </a:prstGeom>
          <a:noFill/>
          <a:ln w="28575" cap="flat" cmpd="sng">
            <a:solidFill>
              <a:srgbClr val="DEFF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6585400" y="3169350"/>
            <a:ext cx="1707900" cy="554100"/>
          </a:xfrm>
          <a:prstGeom prst="rect">
            <a:avLst/>
          </a:prstGeom>
          <a:noFill/>
          <a:ln w="28575" cap="flat" cmpd="sng">
            <a:solidFill>
              <a:srgbClr val="DEFF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1531532" y="3173943"/>
            <a:ext cx="1776000" cy="554100"/>
          </a:xfrm>
          <a:prstGeom prst="rect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25" y="2759350"/>
            <a:ext cx="11572775" cy="2709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/>
          <p:nvPr/>
        </p:nvSpPr>
        <p:spPr>
          <a:xfrm>
            <a:off x="571500" y="571500"/>
            <a:ext cx="47700" cy="5526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1420700" y="2956175"/>
            <a:ext cx="11351400" cy="22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5650" tIns="255650" rIns="255650" bIns="255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Total VRAM =</a:t>
            </a:r>
            <a:r>
              <a:rPr lang="zh-TW" altLang="en-US" sz="2600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en-US" altLang="zh-TW" sz="2600" dirty="0" err="1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Memory_Weights</a:t>
            </a:r>
            <a:r>
              <a:rPr lang="zh-TW" altLang="en-US" sz="2600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2600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*  </a:t>
            </a:r>
            <a:r>
              <a:rPr lang="en-US" sz="3200" b="1" dirty="0">
                <a:solidFill>
                  <a:srgbClr val="DEFF9A"/>
                </a:solidFill>
                <a:latin typeface="Calibri"/>
                <a:ea typeface="Calibri"/>
                <a:cs typeface="Calibri"/>
                <a:sym typeface="Calibri"/>
              </a:rPr>
              <a:t>1.5</a:t>
            </a:r>
            <a:endParaRPr sz="2600" b="1" dirty="0">
              <a:solidFill>
                <a:srgbClr val="DEFF9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zh-TW" altLang="en-US" sz="2600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 err="1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Memory_Weights</a:t>
            </a:r>
            <a:r>
              <a:rPr lang="en-US" sz="2600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= parameters * </a:t>
            </a:r>
            <a:r>
              <a:rPr lang="en-US" sz="2600" dirty="0" err="1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bytes_per_parms</a:t>
            </a:r>
            <a:endParaRPr sz="2600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Memory_KV</a:t>
            </a:r>
            <a:r>
              <a:rPr lang="en-US" sz="2600" dirty="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= 2 * layers * heads * dimension * </a:t>
            </a:r>
            <a:r>
              <a:rPr lang="en-US" sz="2600" dirty="0" err="1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bytes_per_parms</a:t>
            </a:r>
            <a:endParaRPr sz="2600" dirty="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3877057" y="3148550"/>
            <a:ext cx="2609882" cy="554100"/>
          </a:xfrm>
          <a:prstGeom prst="rect">
            <a:avLst/>
          </a:prstGeom>
          <a:noFill/>
          <a:ln w="28575" cap="flat" cmpd="sng">
            <a:solidFill>
              <a:srgbClr val="DEFF9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1531532" y="3173943"/>
            <a:ext cx="1776000" cy="554100"/>
          </a:xfrm>
          <a:prstGeom prst="rect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6953100" y="1043987"/>
            <a:ext cx="52389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 dirty="0">
                <a:solidFill>
                  <a:srgbClr val="DEFF9A"/>
                </a:solidFill>
                <a:latin typeface="Urbanist ExtraBold"/>
                <a:ea typeface="Urbanist ExtraBold"/>
                <a:cs typeface="Urbanist ExtraBold"/>
                <a:sym typeface="Urbanist ExtraBold"/>
              </a:rPr>
              <a:t>1.5×</a:t>
            </a:r>
            <a:endParaRPr dirty="0"/>
          </a:p>
        </p:txBody>
      </p:sp>
      <p:sp>
        <p:nvSpPr>
          <p:cNvPr id="179" name="Google Shape;179;p20"/>
          <p:cNvSpPr txBox="1"/>
          <p:nvPr/>
        </p:nvSpPr>
        <p:spPr>
          <a:xfrm>
            <a:off x="6953100" y="2282237"/>
            <a:ext cx="5238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VRAM BUFFER FACTOR</a:t>
            </a:r>
            <a:endParaRPr dirty="0"/>
          </a:p>
        </p:txBody>
      </p:sp>
      <p:sp>
        <p:nvSpPr>
          <p:cNvPr id="180" name="Google Shape;180;p20"/>
          <p:cNvSpPr txBox="1"/>
          <p:nvPr/>
        </p:nvSpPr>
        <p:spPr>
          <a:xfrm>
            <a:off x="619213" y="5003225"/>
            <a:ext cx="9691800" cy="14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i="1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Moe Model -&gt; VRAM BUFFER FACTOR = </a:t>
            </a:r>
            <a:r>
              <a:rPr lang="en-US" sz="2200" b="1" dirty="0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1.8</a:t>
            </a:r>
            <a:endParaRPr sz="2200" b="1" dirty="0">
              <a:solidFill>
                <a:srgbClr val="DEFF9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Agentic / Vision / Audio Model -&gt; VRAM BUFFER FACTOR = </a:t>
            </a:r>
            <a:r>
              <a:rPr lang="en-US" sz="2200" b="1" dirty="0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lang="en-US" sz="22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22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81" name="Google Shape;181;p20"/>
          <p:cNvCxnSpPr/>
          <p:nvPr/>
        </p:nvCxnSpPr>
        <p:spPr>
          <a:xfrm>
            <a:off x="4401200" y="4844615"/>
            <a:ext cx="1560000" cy="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182;p20"/>
          <p:cNvCxnSpPr/>
          <p:nvPr/>
        </p:nvCxnSpPr>
        <p:spPr>
          <a:xfrm rot="10800000" flipH="1">
            <a:off x="6256950" y="4828103"/>
            <a:ext cx="2369400" cy="16500"/>
          </a:xfrm>
          <a:prstGeom prst="straightConnector1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3" name="Google Shape;183;p20"/>
          <p:cNvSpPr txBox="1"/>
          <p:nvPr/>
        </p:nvSpPr>
        <p:spPr>
          <a:xfrm>
            <a:off x="571500" y="1680875"/>
            <a:ext cx="4782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How to estimate?</a:t>
            </a:r>
            <a:endParaRPr sz="220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Resource Planning -  </a:t>
            </a:r>
            <a:r>
              <a:rPr lang="en-US" sz="3600" b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GPU (VRAM) sizing</a:t>
            </a:r>
            <a:endParaRPr>
              <a:solidFill>
                <a:srgbClr val="DEFF9A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789775" y="611200"/>
            <a:ext cx="11806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Resource Planning - </a:t>
            </a:r>
            <a:r>
              <a:rPr lang="en-US" sz="3600" b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Precision</a:t>
            </a:r>
            <a:r>
              <a:rPr lang="en-US" sz="3600" b="1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vs GPU Architecture</a:t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3" name="Google Shape;193;p21"/>
          <p:cNvGraphicFramePr/>
          <p:nvPr>
            <p:extLst>
              <p:ext uri="{D42A27DB-BD31-4B8C-83A1-F6EECF244321}">
                <p14:modId xmlns:p14="http://schemas.microsoft.com/office/powerpoint/2010/main" val="1652166891"/>
              </p:ext>
            </p:extLst>
          </p:nvPr>
        </p:nvGraphicFramePr>
        <p:xfrm>
          <a:off x="410725" y="1959515"/>
          <a:ext cx="7775600" cy="3727525"/>
        </p:xfrm>
        <a:graphic>
          <a:graphicData uri="http://schemas.openxmlformats.org/drawingml/2006/table">
            <a:tbl>
              <a:tblPr>
                <a:noFill/>
                <a:tableStyleId>{6C5006B6-BB06-468E-9280-3B92FF2094B0}</a:tableStyleId>
              </a:tblPr>
              <a:tblGrid>
                <a:gridCol w="1146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8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35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74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7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4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78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DEFF9A"/>
                          </a:solidFill>
                          <a:highlight>
                            <a:srgbClr val="1A1E23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Model Precision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DEFF9A"/>
                          </a:solidFill>
                          <a:highlight>
                            <a:srgbClr val="1A1E23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Bytes Per Parameter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rgbClr val="DEFF9A"/>
                          </a:solidFill>
                          <a:highlight>
                            <a:srgbClr val="1A1E23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Volta</a:t>
                      </a:r>
                      <a:endParaRPr sz="1800" b="1" dirty="0">
                        <a:solidFill>
                          <a:srgbClr val="DEFF9A"/>
                        </a:solidFill>
                        <a:highlight>
                          <a:srgbClr val="1A1E23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DEFF9A"/>
                          </a:solidFill>
                          <a:highlight>
                            <a:srgbClr val="1A1E23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Ampere</a:t>
                      </a:r>
                      <a:endParaRPr sz="1800" b="1">
                        <a:solidFill>
                          <a:srgbClr val="DEFF9A"/>
                        </a:solidFill>
                        <a:highlight>
                          <a:srgbClr val="1A1E23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800" b="1">
                          <a:solidFill>
                            <a:srgbClr val="DEFF9A"/>
                          </a:solidFill>
                          <a:highlight>
                            <a:srgbClr val="1A1E23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Ada Lovelace</a:t>
                      </a:r>
                      <a:endParaRPr sz="1800" b="1">
                        <a:solidFill>
                          <a:srgbClr val="DEFF9A"/>
                        </a:solidFill>
                        <a:highlight>
                          <a:srgbClr val="1A1E23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DEFF9A"/>
                          </a:solidFill>
                          <a:highlight>
                            <a:srgbClr val="1A1E23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Hopper</a:t>
                      </a:r>
                      <a:endParaRPr sz="1800" b="1">
                        <a:solidFill>
                          <a:srgbClr val="DEFF9A"/>
                        </a:solidFill>
                        <a:highlight>
                          <a:srgbClr val="1A1E23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rgbClr val="DEFF9A"/>
                          </a:solidFill>
                          <a:highlight>
                            <a:srgbClr val="1A1E23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Blackwell</a:t>
                      </a:r>
                      <a:endParaRPr sz="1800" b="1">
                        <a:solidFill>
                          <a:srgbClr val="DEFF9A"/>
                        </a:solidFill>
                        <a:highlight>
                          <a:srgbClr val="1A1E23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FP32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4 Bytes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O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O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O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O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 dirty="0">
                          <a:solidFill>
                            <a:srgbClr val="F3F3F3"/>
                          </a:solidFill>
                        </a:rPr>
                        <a:t>O</a:t>
                      </a:r>
                      <a:endParaRPr sz="1700" dirty="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FP16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2 Bytes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O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O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O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O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O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BF16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2 Bytes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X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O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O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O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O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FP8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1 Bytes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X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X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O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O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O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MXFP4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0.5 Bytes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X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X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X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O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O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9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NVFP4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0.5 Bytes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X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X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X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>
                          <a:solidFill>
                            <a:srgbClr val="F3F3F3"/>
                          </a:solidFill>
                        </a:rPr>
                        <a:t>X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700" dirty="0">
                          <a:solidFill>
                            <a:srgbClr val="F3F3F3"/>
                          </a:solidFill>
                        </a:rPr>
                        <a:t>O</a:t>
                      </a:r>
                      <a:endParaRPr sz="1700" dirty="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94" name="Google Shape;194;p21"/>
          <p:cNvGraphicFramePr/>
          <p:nvPr>
            <p:extLst>
              <p:ext uri="{D42A27DB-BD31-4B8C-83A1-F6EECF244321}">
                <p14:modId xmlns:p14="http://schemas.microsoft.com/office/powerpoint/2010/main" val="2318227903"/>
              </p:ext>
            </p:extLst>
          </p:nvPr>
        </p:nvGraphicFramePr>
        <p:xfrm>
          <a:off x="8415130" y="1959528"/>
          <a:ext cx="3670854" cy="3727500"/>
        </p:xfrm>
        <a:graphic>
          <a:graphicData uri="http://schemas.openxmlformats.org/drawingml/2006/table">
            <a:tbl>
              <a:tblPr>
                <a:noFill/>
                <a:tableStyleId>{6C5006B6-BB06-468E-9280-3B92FF2094B0}</a:tableStyleId>
              </a:tblPr>
              <a:tblGrid>
                <a:gridCol w="1518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9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3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7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>
                          <a:solidFill>
                            <a:srgbClr val="DEFF9A"/>
                          </a:solidFill>
                          <a:highlight>
                            <a:srgbClr val="1A1E23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Architecture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>
                          <a:solidFill>
                            <a:srgbClr val="DEFF9A"/>
                          </a:solidFill>
                          <a:highlight>
                            <a:srgbClr val="1A1E23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Core GPU Models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>
                          <a:solidFill>
                            <a:srgbClr val="DEFF9A"/>
                          </a:solidFill>
                          <a:highlight>
                            <a:srgbClr val="1A1E23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GPU VRAM</a:t>
                      </a:r>
                      <a:endParaRPr sz="1700" b="1">
                        <a:solidFill>
                          <a:srgbClr val="DEFF9A"/>
                        </a:solidFill>
                        <a:highlight>
                          <a:srgbClr val="1A1E23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Volta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V100</a:t>
                      </a:r>
                      <a:endParaRPr sz="1700">
                        <a:solidFill>
                          <a:srgbClr val="FFFFFF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32 GB</a:t>
                      </a:r>
                      <a:endParaRPr sz="1700">
                        <a:solidFill>
                          <a:srgbClr val="FFFFFF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Ada Lovelace</a:t>
                      </a:r>
                      <a:endParaRPr sz="1700" b="1">
                        <a:solidFill>
                          <a:srgbClr val="FFFFFF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L40S</a:t>
                      </a:r>
                      <a:endParaRPr sz="1700">
                        <a:solidFill>
                          <a:srgbClr val="FFFFFF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48 GB</a:t>
                      </a:r>
                      <a:endParaRPr sz="1700">
                        <a:solidFill>
                          <a:srgbClr val="FFFFFF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3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Ampere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A100</a:t>
                      </a:r>
                      <a:endParaRPr sz="1700">
                        <a:solidFill>
                          <a:srgbClr val="FFFFFF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80 GB</a:t>
                      </a:r>
                      <a:endParaRPr sz="1700">
                        <a:solidFill>
                          <a:srgbClr val="FFFFFF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3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Hopper</a:t>
                      </a:r>
                      <a:endParaRPr sz="17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H100, </a:t>
                      </a:r>
                      <a:endParaRPr sz="1700">
                        <a:solidFill>
                          <a:srgbClr val="FFFFFF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H200</a:t>
                      </a:r>
                      <a:endParaRPr sz="1700">
                        <a:solidFill>
                          <a:srgbClr val="FFFFFF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80 GB,</a:t>
                      </a:r>
                      <a:endParaRPr sz="1700">
                        <a:solidFill>
                          <a:srgbClr val="FFFFFF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141 GB</a:t>
                      </a:r>
                      <a:endParaRPr sz="1700">
                        <a:solidFill>
                          <a:srgbClr val="FFFFFF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32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b="1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Blackwell</a:t>
                      </a:r>
                      <a:endParaRPr sz="170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B200, </a:t>
                      </a:r>
                      <a:endParaRPr sz="1700">
                        <a:solidFill>
                          <a:srgbClr val="FFFFFF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GB200</a:t>
                      </a:r>
                      <a:endParaRPr sz="1700">
                        <a:solidFill>
                          <a:srgbClr val="FFFFFF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192 GB, </a:t>
                      </a:r>
                      <a:endParaRPr sz="1700" dirty="0">
                        <a:solidFill>
                          <a:srgbClr val="FFFFFF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384GB</a:t>
                      </a:r>
                      <a:endParaRPr sz="1700" dirty="0">
                        <a:solidFill>
                          <a:srgbClr val="FFFFFF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662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789775" y="6112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Resource Planning – </a:t>
            </a:r>
            <a:r>
              <a:rPr lang="en-US" altLang="zh-TW" sz="3600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H200</a:t>
            </a:r>
            <a:r>
              <a:rPr lang="zh-TW" altLang="en-US" sz="3600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3600" b="1" dirty="0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(</a:t>
            </a:r>
            <a:r>
              <a:rPr lang="en-US" altLang="zh-TW" sz="3600" b="1" dirty="0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VRAM</a:t>
            </a:r>
            <a:r>
              <a:rPr lang="en-US" sz="3600" b="1" dirty="0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altLang="zh-TW" sz="3600" b="1" dirty="0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141</a:t>
            </a:r>
            <a:r>
              <a:rPr lang="en-US" sz="3600" b="1" dirty="0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GB)</a:t>
            </a:r>
            <a:endParaRPr dirty="0"/>
          </a:p>
        </p:txBody>
      </p:sp>
      <p:sp>
        <p:nvSpPr>
          <p:cNvPr id="201" name="Google Shape;201;p22"/>
          <p:cNvSpPr/>
          <p:nvPr/>
        </p:nvSpPr>
        <p:spPr>
          <a:xfrm>
            <a:off x="571500" y="571500"/>
            <a:ext cx="47700" cy="5526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2" name="Google Shape;202;p22"/>
          <p:cNvGraphicFramePr/>
          <p:nvPr>
            <p:extLst>
              <p:ext uri="{D42A27DB-BD31-4B8C-83A1-F6EECF244321}">
                <p14:modId xmlns:p14="http://schemas.microsoft.com/office/powerpoint/2010/main" val="720238135"/>
              </p:ext>
            </p:extLst>
          </p:nvPr>
        </p:nvGraphicFramePr>
        <p:xfrm>
          <a:off x="571499" y="2679500"/>
          <a:ext cx="9997109" cy="3215430"/>
        </p:xfrm>
        <a:graphic>
          <a:graphicData uri="http://schemas.openxmlformats.org/drawingml/2006/table">
            <a:tbl>
              <a:tblPr>
                <a:noFill/>
                <a:tableStyleId>{6C5006B6-BB06-468E-9280-3B92FF2094B0}</a:tableStyleId>
              </a:tblPr>
              <a:tblGrid>
                <a:gridCol w="2184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4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1002">
                  <a:extLst>
                    <a:ext uri="{9D8B030D-6E8A-4147-A177-3AD203B41FA5}">
                      <a16:colId xmlns:a16="http://schemas.microsoft.com/office/drawing/2014/main" val="149640097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dirty="0">
                          <a:solidFill>
                            <a:srgbClr val="DEFF9A"/>
                          </a:solidFill>
                          <a:highlight>
                            <a:srgbClr val="1A1E23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Model Precision</a:t>
                      </a:r>
                      <a:endParaRPr sz="1800" dirty="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dirty="0">
                          <a:solidFill>
                            <a:srgbClr val="DEFF9A"/>
                          </a:solidFill>
                          <a:highlight>
                            <a:srgbClr val="1A1E23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Bytes Per Parameter</a:t>
                      </a:r>
                      <a:endParaRPr sz="1800" dirty="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dirty="0">
                          <a:solidFill>
                            <a:srgbClr val="DEFF9A"/>
                          </a:solidFill>
                          <a:highlight>
                            <a:srgbClr val="1A1E23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Model parameters</a:t>
                      </a:r>
                      <a:endParaRPr sz="1900" b="1" dirty="0">
                        <a:solidFill>
                          <a:srgbClr val="DEFF9A"/>
                        </a:solidFill>
                        <a:highlight>
                          <a:srgbClr val="1A1E23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dirty="0">
                          <a:solidFill>
                            <a:srgbClr val="DEFF9A"/>
                          </a:solidFill>
                          <a:highlight>
                            <a:srgbClr val="1A1E23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Estimated V</a:t>
                      </a:r>
                      <a:r>
                        <a:rPr lang="en-US" altLang="zh-TW" sz="1900" b="1" dirty="0">
                          <a:solidFill>
                            <a:srgbClr val="DEFF9A"/>
                          </a:solidFill>
                          <a:highlight>
                            <a:srgbClr val="1A1E23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RAM</a:t>
                      </a:r>
                      <a:endParaRPr sz="1900" b="1" dirty="0">
                        <a:solidFill>
                          <a:srgbClr val="DEFF9A"/>
                        </a:solidFill>
                        <a:highlight>
                          <a:srgbClr val="1A1E23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2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3F3F3"/>
                          </a:solidFill>
                        </a:rPr>
                        <a:t>FP32</a:t>
                      </a:r>
                      <a:endParaRPr sz="18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3F3F3"/>
                          </a:solidFill>
                        </a:rPr>
                        <a:t>4 Bytes</a:t>
                      </a:r>
                      <a:endParaRPr sz="18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dirty="0">
                          <a:solidFill>
                            <a:srgbClr val="F3F3F3"/>
                          </a:solidFill>
                        </a:rPr>
                        <a:t>23</a:t>
                      </a:r>
                      <a:r>
                        <a:rPr lang="en-US" sz="1800" dirty="0">
                          <a:solidFill>
                            <a:srgbClr val="F3F3F3"/>
                          </a:solidFill>
                        </a:rPr>
                        <a:t> B</a:t>
                      </a:r>
                      <a:endParaRPr sz="1800" dirty="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dirty="0">
                          <a:solidFill>
                            <a:srgbClr val="F3F3F3"/>
                          </a:solidFill>
                        </a:rPr>
                        <a:t>138GB</a:t>
                      </a:r>
                      <a:endParaRPr sz="1800" dirty="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3F3F3"/>
                          </a:solidFill>
                        </a:rPr>
                        <a:t>FP16</a:t>
                      </a:r>
                      <a:endParaRPr sz="18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3F3F3"/>
                          </a:solidFill>
                        </a:rPr>
                        <a:t>2 Bytes</a:t>
                      </a:r>
                      <a:endParaRPr sz="18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dirty="0">
                          <a:solidFill>
                            <a:srgbClr val="F3F3F3"/>
                          </a:solidFill>
                        </a:rPr>
                        <a:t>46</a:t>
                      </a:r>
                      <a:r>
                        <a:rPr lang="en-US" sz="1800" dirty="0">
                          <a:solidFill>
                            <a:srgbClr val="F3F3F3"/>
                          </a:solidFill>
                        </a:rPr>
                        <a:t> B</a:t>
                      </a:r>
                      <a:endParaRPr sz="1800" dirty="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dirty="0">
                          <a:solidFill>
                            <a:srgbClr val="F3F3F3"/>
                          </a:solidFill>
                        </a:rPr>
                        <a:t>138GB</a:t>
                      </a:r>
                      <a:endParaRPr sz="1800" dirty="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3F3F3"/>
                          </a:solidFill>
                        </a:rPr>
                        <a:t>BF16</a:t>
                      </a:r>
                      <a:endParaRPr sz="18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3F3F3"/>
                          </a:solidFill>
                        </a:rPr>
                        <a:t>2 Bytes</a:t>
                      </a:r>
                      <a:endParaRPr sz="18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altLang="zh-TW" sz="1800" dirty="0">
                          <a:solidFill>
                            <a:srgbClr val="F3F3F3"/>
                          </a:solidFill>
                        </a:rPr>
                        <a:t>46</a:t>
                      </a:r>
                      <a:r>
                        <a:rPr lang="en-US" sz="1800" dirty="0">
                          <a:solidFill>
                            <a:srgbClr val="F3F3F3"/>
                          </a:solidFill>
                        </a:rPr>
                        <a:t> B</a:t>
                      </a:r>
                      <a:endParaRPr sz="1800" dirty="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altLang="zh-TW" sz="1800" dirty="0">
                          <a:solidFill>
                            <a:srgbClr val="F3F3F3"/>
                          </a:solidFill>
                        </a:rPr>
                        <a:t>138GB</a:t>
                      </a:r>
                      <a:endParaRPr sz="1800" dirty="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F3F3F3"/>
                          </a:solidFill>
                        </a:rPr>
                        <a:t>FP8</a:t>
                      </a:r>
                      <a:endParaRPr sz="1800" dirty="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3F3F3"/>
                          </a:solidFill>
                        </a:rPr>
                        <a:t>1 Bytes</a:t>
                      </a:r>
                      <a:endParaRPr sz="18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dirty="0">
                          <a:solidFill>
                            <a:srgbClr val="F3F3F3"/>
                          </a:solidFill>
                        </a:rPr>
                        <a:t>94</a:t>
                      </a:r>
                      <a:r>
                        <a:rPr lang="en-US" sz="1800" dirty="0">
                          <a:solidFill>
                            <a:srgbClr val="F3F3F3"/>
                          </a:solidFill>
                        </a:rPr>
                        <a:t> B</a:t>
                      </a:r>
                      <a:endParaRPr sz="1800" dirty="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dirty="0">
                          <a:solidFill>
                            <a:srgbClr val="F3F3F3"/>
                          </a:solidFill>
                        </a:rPr>
                        <a:t>141GB</a:t>
                      </a:r>
                      <a:endParaRPr sz="1800" dirty="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F3F3F3"/>
                          </a:solidFill>
                        </a:rPr>
                        <a:t>MXFP4</a:t>
                      </a:r>
                      <a:endParaRPr sz="1800" dirty="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3F3F3"/>
                          </a:solidFill>
                        </a:rPr>
                        <a:t>0.5 Bytes</a:t>
                      </a:r>
                      <a:endParaRPr sz="180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dirty="0">
                          <a:solidFill>
                            <a:srgbClr val="F3F3F3"/>
                          </a:solidFill>
                        </a:rPr>
                        <a:t>188</a:t>
                      </a:r>
                      <a:r>
                        <a:rPr lang="en-US" sz="1800" dirty="0">
                          <a:solidFill>
                            <a:srgbClr val="F3F3F3"/>
                          </a:solidFill>
                        </a:rPr>
                        <a:t> B</a:t>
                      </a:r>
                      <a:endParaRPr sz="1800" dirty="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800" dirty="0">
                          <a:solidFill>
                            <a:srgbClr val="F3F3F3"/>
                          </a:solidFill>
                        </a:rPr>
                        <a:t>141GB</a:t>
                      </a:r>
                      <a:endParaRPr sz="1800" dirty="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F3F3F3"/>
                          </a:solidFill>
                        </a:rPr>
                        <a:t>NVFP4</a:t>
                      </a:r>
                      <a:endParaRPr sz="1800" dirty="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rgbClr val="F3F3F3"/>
                          </a:solidFill>
                        </a:rPr>
                        <a:t>0.5 Bytes</a:t>
                      </a:r>
                      <a:endParaRPr sz="1800" dirty="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altLang="zh-TW" sz="1800" dirty="0">
                          <a:solidFill>
                            <a:srgbClr val="F3F3F3"/>
                          </a:solidFill>
                        </a:rPr>
                        <a:t>188</a:t>
                      </a:r>
                      <a:r>
                        <a:rPr lang="en-US" sz="1800" dirty="0">
                          <a:solidFill>
                            <a:srgbClr val="F3F3F3"/>
                          </a:solidFill>
                        </a:rPr>
                        <a:t> B</a:t>
                      </a:r>
                      <a:endParaRPr sz="1800" dirty="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altLang="zh-TW" sz="1800" dirty="0">
                          <a:solidFill>
                            <a:srgbClr val="F3F3F3"/>
                          </a:solidFill>
                        </a:rPr>
                        <a:t>141GB</a:t>
                      </a:r>
                      <a:endParaRPr sz="1800" dirty="0">
                        <a:solidFill>
                          <a:srgbClr val="F3F3F3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3" name="Google Shape;203;p22"/>
          <p:cNvSpPr txBox="1"/>
          <p:nvPr/>
        </p:nvSpPr>
        <p:spPr>
          <a:xfrm>
            <a:off x="571500" y="1474750"/>
            <a:ext cx="9511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Total VRAM = parameters * </a:t>
            </a:r>
            <a:r>
              <a:rPr lang="en-US" sz="2600" dirty="0" err="1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bytes_per_parms</a:t>
            </a:r>
            <a:r>
              <a:rPr lang="en-US" sz="2600" dirty="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  *  </a:t>
            </a:r>
            <a:r>
              <a:rPr lang="en-US" sz="2600" b="1" dirty="0">
                <a:solidFill>
                  <a:srgbClr val="DEFF9A"/>
                </a:solidFill>
                <a:latin typeface="Calibri"/>
                <a:ea typeface="Calibri"/>
                <a:cs typeface="Calibri"/>
                <a:sym typeface="Calibri"/>
              </a:rPr>
              <a:t>1.5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3"/>
          <p:cNvSpPr txBox="1"/>
          <p:nvPr/>
        </p:nvSpPr>
        <p:spPr>
          <a:xfrm>
            <a:off x="789775" y="6112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600" b="1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Discussion</a:t>
            </a:r>
            <a:endParaRPr/>
          </a:p>
        </p:txBody>
      </p:sp>
      <p:sp>
        <p:nvSpPr>
          <p:cNvPr id="209" name="Google Shape;209;p23"/>
          <p:cNvSpPr/>
          <p:nvPr/>
        </p:nvSpPr>
        <p:spPr>
          <a:xfrm>
            <a:off x="571500" y="571500"/>
            <a:ext cx="47700" cy="5526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571500" y="1494441"/>
            <a:ext cx="11252700" cy="45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Q1: FP16 (float16) vs BF16 (bfloat16)?</a:t>
            </a:r>
            <a:endParaRPr sz="24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000"/>
              <a:buFont typeface="DM Sans"/>
              <a:buChar char="●"/>
            </a:pPr>
            <a:r>
              <a:rPr lang="en-US" sz="200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為了解決</a:t>
            </a:r>
            <a:r>
              <a:rPr lang="en-US" sz="20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FP16 容易溢位的問題（例如梯度計算約大於65,504 </a:t>
            </a:r>
            <a:r>
              <a:rPr lang="en-US" sz="200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就會變成NaN</a:t>
            </a:r>
            <a:r>
              <a:rPr lang="en-US" sz="20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）</a:t>
            </a:r>
            <a:endParaRPr sz="20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000"/>
              <a:buFont typeface="DM Sans"/>
              <a:buChar char="●"/>
            </a:pPr>
            <a:r>
              <a:rPr lang="en-US" sz="20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BF16 </a:t>
            </a:r>
            <a:r>
              <a:rPr lang="en-US" sz="200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犧牲了部分精度來換取更大的值域</a:t>
            </a:r>
            <a:endParaRPr sz="20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000"/>
              <a:buFont typeface="DM Sans"/>
              <a:buChar char="●"/>
            </a:pPr>
            <a:r>
              <a:rPr lang="en-US" sz="2000" dirty="0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BF16 </a:t>
            </a:r>
            <a:r>
              <a:rPr lang="en-US" sz="2000" dirty="0" err="1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的值域相當於</a:t>
            </a:r>
            <a:r>
              <a:rPr lang="en-US" sz="2000" dirty="0">
                <a:solidFill>
                  <a:srgbClr val="DEFF9A"/>
                </a:solidFill>
                <a:latin typeface="DM Sans"/>
                <a:ea typeface="DM Sans"/>
                <a:cs typeface="DM Sans"/>
                <a:sym typeface="DM Sans"/>
              </a:rPr>
              <a:t> FP32，但精度比 FP16 略低</a:t>
            </a:r>
            <a:r>
              <a:rPr lang="en-US" sz="20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（7-bit vs 10-bit）</a:t>
            </a:r>
            <a:endParaRPr sz="20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000"/>
              <a:buFont typeface="DM Sans"/>
              <a:buChar char="●"/>
            </a:pPr>
            <a:r>
              <a:rPr lang="en-US" sz="200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在維持</a:t>
            </a:r>
            <a:r>
              <a:rPr lang="en-US" sz="20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VRAM </a:t>
            </a:r>
            <a:r>
              <a:rPr lang="en-US" sz="200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效率的同時，有較高的穩定性</a:t>
            </a:r>
            <a:endParaRPr sz="20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Q2: </a:t>
            </a:r>
            <a:r>
              <a:rPr lang="en-US" sz="240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如果</a:t>
            </a:r>
            <a:r>
              <a:rPr lang="en-US" sz="24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GPU </a:t>
            </a:r>
            <a:r>
              <a:rPr lang="en-US" sz="240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太舊</a:t>
            </a:r>
            <a:r>
              <a:rPr lang="en-US" sz="24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(</a:t>
            </a:r>
            <a:r>
              <a:rPr lang="en-US" sz="240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老於</a:t>
            </a:r>
            <a:r>
              <a:rPr lang="en-US" sz="24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Ampere)</a:t>
            </a:r>
            <a:r>
              <a:rPr lang="en-US" sz="240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無法佈署</a:t>
            </a:r>
            <a:r>
              <a:rPr lang="en-US" sz="24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BF16 </a:t>
            </a:r>
            <a:r>
              <a:rPr lang="en-US" sz="240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的模型怎麼辦</a:t>
            </a:r>
            <a:r>
              <a:rPr lang="en-US" sz="24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?</a:t>
            </a:r>
            <a:endParaRPr sz="24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000"/>
              <a:buFont typeface="DM Sans"/>
              <a:buChar char="●"/>
            </a:pPr>
            <a:r>
              <a:rPr lang="en-US" sz="200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解法通常是把</a:t>
            </a:r>
            <a:r>
              <a:rPr lang="en-US" sz="20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BF16 </a:t>
            </a:r>
            <a:r>
              <a:rPr lang="en-US" sz="200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的模型在佈署時指定</a:t>
            </a:r>
            <a:r>
              <a:rPr lang="en-US" sz="20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00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dtype</a:t>
            </a:r>
            <a:r>
              <a:rPr lang="en-US" sz="20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用 FP32 </a:t>
            </a:r>
            <a:endParaRPr sz="20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000"/>
              <a:buFont typeface="DM Sans"/>
              <a:buChar char="●"/>
            </a:pPr>
            <a:r>
              <a:rPr lang="en-US" sz="200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值域一樣，能確保不會溢位</a:t>
            </a:r>
            <a:endParaRPr sz="20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000"/>
              <a:buFont typeface="DM Sans"/>
              <a:buChar char="●"/>
            </a:pPr>
            <a:r>
              <a:rPr lang="en-US" sz="200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代價是需要兩倍</a:t>
            </a:r>
            <a:r>
              <a:rPr lang="en-US" sz="20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VRAM </a:t>
            </a:r>
            <a:endParaRPr sz="20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4"/>
          <p:cNvSpPr txBox="1"/>
          <p:nvPr/>
        </p:nvSpPr>
        <p:spPr>
          <a:xfrm>
            <a:off x="789775" y="6112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Discussion</a:t>
            </a:r>
            <a:endParaRPr/>
          </a:p>
        </p:txBody>
      </p:sp>
      <p:sp>
        <p:nvSpPr>
          <p:cNvPr id="216" name="Google Shape;216;p24"/>
          <p:cNvSpPr/>
          <p:nvPr/>
        </p:nvSpPr>
        <p:spPr>
          <a:xfrm>
            <a:off x="571500" y="571500"/>
            <a:ext cx="47700" cy="5526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4"/>
          <p:cNvSpPr txBox="1"/>
          <p:nvPr/>
        </p:nvSpPr>
        <p:spPr>
          <a:xfrm>
            <a:off x="571500" y="1428750"/>
            <a:ext cx="11351400" cy="22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Q3: LLM 推論是 Memory Bound (受限於硬體頻寬和記憶體大小)，目標是盡量放在VRAM </a:t>
            </a:r>
            <a:endParaRPr sz="240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218" name="Google Shape;218;p24"/>
          <p:cNvGraphicFramePr/>
          <p:nvPr/>
        </p:nvGraphicFramePr>
        <p:xfrm>
          <a:off x="952500" y="2543273"/>
          <a:ext cx="10287000" cy="3825060"/>
        </p:xfrm>
        <a:graphic>
          <a:graphicData uri="http://schemas.openxmlformats.org/drawingml/2006/table">
            <a:tbl>
              <a:tblPr>
                <a:noFill/>
                <a:tableStyleId>{6C5006B6-BB06-468E-9280-3B92FF2094B0}</a:tableStyleId>
              </a:tblPr>
              <a:tblGrid>
                <a:gridCol w="514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>
                          <a:solidFill>
                            <a:srgbClr val="DEFF9A"/>
                          </a:solidFill>
                          <a:highlight>
                            <a:srgbClr val="1A1E23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可能的解法</a:t>
                      </a:r>
                      <a:endParaRPr sz="1900" b="1">
                        <a:solidFill>
                          <a:srgbClr val="DEFF9A"/>
                        </a:solidFill>
                        <a:highlight>
                          <a:srgbClr val="1A1E23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>
                          <a:solidFill>
                            <a:srgbClr val="DEFF9A"/>
                          </a:solidFill>
                          <a:highlight>
                            <a:srgbClr val="1A1E23"/>
                          </a:highlight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Trade-off</a:t>
                      </a:r>
                      <a:endParaRPr sz="1900" b="1">
                        <a:solidFill>
                          <a:srgbClr val="DEFF9A"/>
                        </a:solidFill>
                        <a:highlight>
                          <a:srgbClr val="1A1E23"/>
                        </a:highlight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降低 max-model-len 以縮減 KV Cache 佔用的 VRAM 頻寬與空間</a:t>
                      </a:r>
                      <a:endParaRPr sz="2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喪失處理長文與複雜 Agent 的能力</a:t>
                      </a:r>
                      <a:endParaRPr sz="2000">
                        <a:solidFill>
                          <a:srgbClr val="CBD5E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用精度比較低的模型</a:t>
                      </a:r>
                      <a:endParaRPr sz="2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需監控模型輸出品質與正確率</a:t>
                      </a:r>
                      <a:endParaRPr sz="2000">
                        <a:solidFill>
                          <a:srgbClr val="CBD5E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offload KV cache </a:t>
                      </a:r>
                      <a:endParaRPr sz="2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from GPU VRAM to CPU RAM</a:t>
                      </a:r>
                      <a:endParaRPr sz="2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延遲高</a:t>
                      </a:r>
                      <a:endParaRPr sz="2000">
                        <a:solidFill>
                          <a:srgbClr val="CBD5E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offload partial model weight </a:t>
                      </a:r>
                      <a:endParaRPr sz="2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from GPU VRAM to CPU RAM</a:t>
                      </a:r>
                      <a:endParaRPr sz="2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延遲高</a:t>
                      </a:r>
                      <a:endParaRPr sz="2000" dirty="0">
                        <a:solidFill>
                          <a:srgbClr val="CBD5E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>
                          <a:solidFill>
                            <a:schemeClr val="lt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用更高頻寬的硬體</a:t>
                      </a:r>
                      <a:endParaRPr sz="2000">
                        <a:solidFill>
                          <a:schemeClr val="lt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 err="1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花錢</a:t>
                      </a:r>
                      <a:endParaRPr sz="2000" dirty="0">
                        <a:solidFill>
                          <a:srgbClr val="CBD5E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5"/>
          <p:cNvSpPr txBox="1"/>
          <p:nvPr/>
        </p:nvSpPr>
        <p:spPr>
          <a:xfrm>
            <a:off x="952500" y="1219939"/>
            <a:ext cx="10287000" cy="3627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Prerequisites​</a:t>
            </a:r>
            <a:endParaRPr sz="24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DM Sans"/>
              <a:buChar char="●"/>
            </a:pPr>
            <a:r>
              <a:rPr lang="en-US" sz="18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GPU status: </a:t>
            </a:r>
            <a:r>
              <a:rPr lang="en-US" sz="1800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nvidia-smi</a:t>
            </a:r>
            <a:endParaRPr sz="18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DM Sans"/>
              <a:buChar char="●"/>
            </a:pPr>
            <a:r>
              <a:rPr lang="en-US" sz="18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Install Docker </a:t>
            </a:r>
            <a:r>
              <a:rPr lang="en-US" sz="1800" u="sng" dirty="0">
                <a:solidFill>
                  <a:srgbClr val="DEFF9A"/>
                </a:solidFill>
              </a:rPr>
              <a:t>(</a:t>
            </a:r>
            <a:r>
              <a:rPr lang="en-US" sz="1800" u="sng" dirty="0">
                <a:solidFill>
                  <a:srgbClr val="DEFF9A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Install | Docker Docs</a:t>
            </a:r>
            <a:r>
              <a:rPr lang="en-US" sz="1800" u="sng" dirty="0">
                <a:solidFill>
                  <a:srgbClr val="DEFF9A"/>
                </a:solidFill>
              </a:rPr>
              <a:t>)​</a:t>
            </a:r>
            <a:endParaRPr sz="1800" u="sng" dirty="0">
              <a:solidFill>
                <a:srgbClr val="DEFF9A"/>
              </a:solidFill>
            </a:endParaRPr>
          </a:p>
          <a:p>
            <a:pPr marL="9144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DM Sans"/>
              <a:buChar char="●"/>
            </a:pPr>
            <a:r>
              <a:rPr lang="en-US" sz="18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Install NVIDIA Container Toolkit</a:t>
            </a:r>
            <a:r>
              <a:rPr lang="en-US" sz="2000" u="sng" dirty="0">
                <a:solidFill>
                  <a:srgbClr val="DEFF9A"/>
                </a:solidFill>
              </a:rPr>
              <a:t> </a:t>
            </a:r>
            <a:r>
              <a:rPr lang="en-US" sz="1800" u="sng" dirty="0">
                <a:solidFill>
                  <a:srgbClr val="DEFF9A"/>
                </a:solidFill>
              </a:rPr>
              <a:t>(</a:t>
            </a:r>
            <a:r>
              <a:rPr lang="en-US" sz="1800" u="sng" dirty="0">
                <a:solidFill>
                  <a:srgbClr val="DEFF9A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Installing the NVIDIA Container Toolkit</a:t>
            </a:r>
            <a:r>
              <a:rPr lang="en-US" sz="1800" u="sng" dirty="0">
                <a:solidFill>
                  <a:srgbClr val="DEFF9A"/>
                </a:solidFill>
              </a:rPr>
              <a:t>)​</a:t>
            </a:r>
            <a:endParaRPr sz="1800" u="sng" dirty="0">
              <a:solidFill>
                <a:srgbClr val="DEFF9A"/>
              </a:solidFill>
            </a:endParaRPr>
          </a:p>
          <a:p>
            <a:pPr marL="9144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DM Sans"/>
              <a:buChar char="●"/>
            </a:pPr>
            <a:r>
              <a:rPr lang="en-US" sz="18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Prepare Hugging Face token for gated model</a:t>
            </a:r>
            <a:r>
              <a:rPr lang="en-US" sz="24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 </a:t>
            </a:r>
            <a:endParaRPr sz="24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371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​Run Docker Container​</a:t>
            </a:r>
            <a:endParaRPr sz="24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144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DM Sans"/>
              <a:buChar char="●"/>
            </a:pPr>
            <a:r>
              <a:rPr lang="en-US" sz="18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Add arguments and environment variables</a:t>
            </a:r>
            <a:endParaRPr sz="18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Curl to verify ​</a:t>
            </a:r>
            <a:endParaRPr sz="24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5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5" name="Google Shape;225;p25"/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Setup with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Docker vLLM</a:t>
            </a:r>
            <a:endParaRPr dirty="0"/>
          </a:p>
        </p:txBody>
      </p:sp>
      <p:sp>
        <p:nvSpPr>
          <p:cNvPr id="226" name="Google Shape;226;p25"/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0503" y="3211011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0503" y="4076128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80503" y="1339083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295E214C-753E-E966-BFC9-ECF2CD92A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5" descr="image.png">
            <a:extLst>
              <a:ext uri="{FF2B5EF4-FFF2-40B4-BE49-F238E27FC236}">
                <a16:creationId xmlns:a16="http://schemas.microsoft.com/office/drawing/2014/main" id="{8E8D0A16-0325-C4D2-A0EA-37AE93CCC57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5">
            <a:extLst>
              <a:ext uri="{FF2B5EF4-FFF2-40B4-BE49-F238E27FC236}">
                <a16:creationId xmlns:a16="http://schemas.microsoft.com/office/drawing/2014/main" id="{D66CFE9A-DAEB-F69A-A87E-D50E2AAAAC78}"/>
              </a:ext>
            </a:extLst>
          </p:cNvPr>
          <p:cNvSpPr txBox="1"/>
          <p:nvPr/>
        </p:nvSpPr>
        <p:spPr>
          <a:xfrm>
            <a:off x="566522" y="1385783"/>
            <a:ext cx="11590775" cy="4247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​Run Docker Container</a:t>
            </a:r>
            <a:endParaRPr lang="en-US" altLang="zh-TW" sz="2400" dirty="0">
              <a:solidFill>
                <a:srgbClr val="CBD5E1"/>
              </a:solidFill>
              <a:latin typeface="DM Sans"/>
              <a:sym typeface="DM Sans"/>
            </a:endParaRPr>
          </a:p>
          <a:p>
            <a:pPr lvl="0" indent="457200">
              <a:lnSpc>
                <a:spcPct val="115000"/>
              </a:lnSpc>
            </a:pP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docker run -d \</a:t>
            </a:r>
            <a:br>
              <a:rPr lang="en-US" altLang="zh-TW" sz="1200" dirty="0">
                <a:solidFill>
                  <a:srgbClr val="CBD5E1"/>
                </a:solidFill>
                <a:latin typeface="DM Sans"/>
              </a:rPr>
            </a:b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--name </a:t>
            </a:r>
            <a:r>
              <a:rPr lang="en-US" altLang="zh-TW" sz="1200" dirty="0" err="1">
                <a:solidFill>
                  <a:srgbClr val="CBD5E1"/>
                </a:solidFill>
                <a:latin typeface="DM Sans"/>
              </a:rPr>
              <a:t>vllm</a:t>
            </a: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 \</a:t>
            </a:r>
            <a:br>
              <a:rPr lang="en-US" altLang="zh-TW" sz="1200" dirty="0">
                <a:solidFill>
                  <a:srgbClr val="CBD5E1"/>
                </a:solidFill>
                <a:latin typeface="DM Sans"/>
              </a:rPr>
            </a:b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--</a:t>
            </a:r>
            <a:r>
              <a:rPr lang="en-US" altLang="zh-TW" sz="1200" dirty="0" err="1">
                <a:solidFill>
                  <a:srgbClr val="CBD5E1"/>
                </a:solidFill>
                <a:latin typeface="DM Sans"/>
              </a:rPr>
              <a:t>gpus</a:t>
            </a: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 all \</a:t>
            </a:r>
            <a:br>
              <a:rPr lang="en-US" altLang="zh-TW" sz="1200" dirty="0">
                <a:solidFill>
                  <a:srgbClr val="CBD5E1"/>
                </a:solidFill>
                <a:latin typeface="DM Sans"/>
              </a:rPr>
            </a:b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--</a:t>
            </a:r>
            <a:r>
              <a:rPr lang="en-US" altLang="zh-TW" sz="1200" dirty="0" err="1">
                <a:solidFill>
                  <a:srgbClr val="CBD5E1"/>
                </a:solidFill>
                <a:latin typeface="DM Sans"/>
              </a:rPr>
              <a:t>ipc</a:t>
            </a: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=host \</a:t>
            </a:r>
            <a:br>
              <a:rPr lang="en-US" altLang="zh-TW" sz="1200" dirty="0">
                <a:solidFill>
                  <a:srgbClr val="CBD5E1"/>
                </a:solidFill>
                <a:latin typeface="DM Sans"/>
              </a:rPr>
            </a:b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--network host \</a:t>
            </a:r>
            <a:br>
              <a:rPr lang="en-US" altLang="zh-TW" sz="1200" dirty="0">
                <a:solidFill>
                  <a:srgbClr val="CBD5E1"/>
                </a:solidFill>
                <a:latin typeface="DM Sans"/>
              </a:rPr>
            </a:b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-e VLLM_USE_FLASHINFER_MOE_FP8=1 \</a:t>
            </a:r>
            <a:br>
              <a:rPr lang="en-US" altLang="zh-TW" sz="1200" dirty="0">
                <a:solidFill>
                  <a:srgbClr val="CBD5E1"/>
                </a:solidFill>
                <a:latin typeface="DM Sans"/>
              </a:rPr>
            </a:b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-e VLLM_FLASHINFER_MOE_BACKEND=throughput \</a:t>
            </a:r>
            <a:br>
              <a:rPr lang="en-US" altLang="zh-TW" sz="1200" dirty="0">
                <a:solidFill>
                  <a:srgbClr val="CBD5E1"/>
                </a:solidFill>
                <a:latin typeface="DM Sans"/>
              </a:rPr>
            </a:b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-v /home/ubuntu/nvidia/NVIDIA-Nemotron-3-Nano-30B-A3B-FP8:/</a:t>
            </a:r>
            <a:r>
              <a:rPr lang="en-US" altLang="zh-TW" sz="1200" dirty="0" err="1">
                <a:solidFill>
                  <a:srgbClr val="CBD5E1"/>
                </a:solidFill>
                <a:latin typeface="DM Sans"/>
              </a:rPr>
              <a:t>model:ro</a:t>
            </a: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 \</a:t>
            </a:r>
            <a:br>
              <a:rPr lang="en-US" altLang="zh-TW" sz="1200" dirty="0">
                <a:solidFill>
                  <a:srgbClr val="CBD5E1"/>
                </a:solidFill>
                <a:latin typeface="DM Sans"/>
              </a:rPr>
            </a:b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/</a:t>
            </a:r>
            <a:r>
              <a:rPr lang="en-US" altLang="zh-TW" sz="1200" dirty="0" err="1">
                <a:solidFill>
                  <a:srgbClr val="CBD5E1"/>
                </a:solidFill>
                <a:latin typeface="DM Sans"/>
              </a:rPr>
              <a:t>vllm</a:t>
            </a: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/vllm-openai:v0.21.0-ubuntu2404 \</a:t>
            </a:r>
            <a:br>
              <a:rPr lang="en-US" altLang="zh-TW" sz="1200" dirty="0">
                <a:solidFill>
                  <a:srgbClr val="CBD5E1"/>
                </a:solidFill>
                <a:latin typeface="DM Sans"/>
              </a:rPr>
            </a:b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/model \</a:t>
            </a:r>
            <a:br>
              <a:rPr lang="en-US" altLang="zh-TW" sz="1200" dirty="0">
                <a:solidFill>
                  <a:srgbClr val="CBD5E1"/>
                </a:solidFill>
                <a:latin typeface="DM Sans"/>
              </a:rPr>
            </a:b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--trust-remote-code \</a:t>
            </a:r>
            <a:br>
              <a:rPr lang="en-US" altLang="zh-TW" sz="1200" dirty="0">
                <a:solidFill>
                  <a:srgbClr val="CBD5E1"/>
                </a:solidFill>
                <a:latin typeface="DM Sans"/>
              </a:rPr>
            </a:b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--async-scheduling \</a:t>
            </a:r>
            <a:br>
              <a:rPr lang="en-US" altLang="zh-TW" sz="1200" dirty="0">
                <a:solidFill>
                  <a:srgbClr val="CBD5E1"/>
                </a:solidFill>
                <a:latin typeface="DM Sans"/>
              </a:rPr>
            </a:b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--</a:t>
            </a:r>
            <a:r>
              <a:rPr lang="en-US" altLang="zh-TW" sz="1200" dirty="0" err="1">
                <a:solidFill>
                  <a:srgbClr val="CBD5E1"/>
                </a:solidFill>
                <a:latin typeface="DM Sans"/>
              </a:rPr>
              <a:t>kv</a:t>
            </a: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-cache-</a:t>
            </a:r>
            <a:r>
              <a:rPr lang="en-US" altLang="zh-TW" sz="1200" dirty="0" err="1">
                <a:solidFill>
                  <a:srgbClr val="CBD5E1"/>
                </a:solidFill>
                <a:latin typeface="DM Sans"/>
              </a:rPr>
              <a:t>dtype</a:t>
            </a: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 fp8 \</a:t>
            </a:r>
            <a:br>
              <a:rPr lang="en-US" altLang="zh-TW" sz="1200" dirty="0">
                <a:solidFill>
                  <a:srgbClr val="CBD5E1"/>
                </a:solidFill>
                <a:latin typeface="DM Sans"/>
              </a:rPr>
            </a:b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--tensor-parallel-size 1 \</a:t>
            </a:r>
            <a:br>
              <a:rPr lang="en-US" altLang="zh-TW" sz="1200" dirty="0">
                <a:solidFill>
                  <a:srgbClr val="CBD5E1"/>
                </a:solidFill>
                <a:latin typeface="DM Sans"/>
              </a:rPr>
            </a:b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--enable-auto-tool-choice \</a:t>
            </a:r>
            <a:br>
              <a:rPr lang="en-US" altLang="zh-TW" sz="1200" dirty="0">
                <a:solidFill>
                  <a:srgbClr val="CBD5E1"/>
                </a:solidFill>
                <a:latin typeface="DM Sans"/>
              </a:rPr>
            </a:b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--tool-call-parser qwen3_coder \</a:t>
            </a:r>
            <a:br>
              <a:rPr lang="en-US" altLang="zh-TW" sz="1200" dirty="0">
                <a:solidFill>
                  <a:srgbClr val="CBD5E1"/>
                </a:solidFill>
                <a:latin typeface="DM Sans"/>
              </a:rPr>
            </a:b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--reasoning-parser-plugin /model/nano_v3_reasoning_parser.py \</a:t>
            </a:r>
            <a:br>
              <a:rPr lang="en-US" altLang="zh-TW" sz="1200" dirty="0">
                <a:solidFill>
                  <a:srgbClr val="CBD5E1"/>
                </a:solidFill>
                <a:latin typeface="DM Sans"/>
              </a:rPr>
            </a:b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--reasoning-parser nano_v3</a:t>
            </a:r>
            <a:endParaRPr lang="zh-TW" altLang="en-US" sz="1200" dirty="0">
              <a:solidFill>
                <a:srgbClr val="CBD5E1"/>
              </a:solidFill>
              <a:latin typeface="DM Sans"/>
              <a:sym typeface="DM Sans"/>
            </a:endParaRPr>
          </a:p>
        </p:txBody>
      </p:sp>
      <p:sp>
        <p:nvSpPr>
          <p:cNvPr id="225" name="Google Shape;225;p25">
            <a:extLst>
              <a:ext uri="{FF2B5EF4-FFF2-40B4-BE49-F238E27FC236}">
                <a16:creationId xmlns:a16="http://schemas.microsoft.com/office/drawing/2014/main" id="{9ACD8685-84BC-A720-EB2E-2978FBF81335}"/>
              </a:ext>
            </a:extLst>
          </p:cNvPr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Setup with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Docker vLLM</a:t>
            </a:r>
            <a:endParaRPr dirty="0"/>
          </a:p>
        </p:txBody>
      </p:sp>
      <p:sp>
        <p:nvSpPr>
          <p:cNvPr id="226" name="Google Shape;226;p25">
            <a:extLst>
              <a:ext uri="{FF2B5EF4-FFF2-40B4-BE49-F238E27FC236}">
                <a16:creationId xmlns:a16="http://schemas.microsoft.com/office/drawing/2014/main" id="{BBB787C5-7E0D-B365-3CFC-23C8A1A5F7BA}"/>
              </a:ext>
            </a:extLst>
          </p:cNvPr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25" descr="image.png">
            <a:extLst>
              <a:ext uri="{FF2B5EF4-FFF2-40B4-BE49-F238E27FC236}">
                <a16:creationId xmlns:a16="http://schemas.microsoft.com/office/drawing/2014/main" id="{EA0E6350-A71D-AD7E-B2BF-90C742A5651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125" y="147637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24;p25">
            <a:extLst>
              <a:ext uri="{FF2B5EF4-FFF2-40B4-BE49-F238E27FC236}">
                <a16:creationId xmlns:a16="http://schemas.microsoft.com/office/drawing/2014/main" id="{1CFF8BAD-0B49-16C8-14A3-8DD24D1E3105}"/>
              </a:ext>
            </a:extLst>
          </p:cNvPr>
          <p:cNvSpPr txBox="1"/>
          <p:nvPr/>
        </p:nvSpPr>
        <p:spPr>
          <a:xfrm>
            <a:off x="6096000" y="1224219"/>
            <a:ext cx="5693549" cy="6397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371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>
              <a:lnSpc>
                <a:spcPct val="115000"/>
              </a:lnSpc>
            </a:pPr>
            <a:r>
              <a:rPr lang="en-US" altLang="zh-TW" sz="28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Curl to verify</a:t>
            </a:r>
          </a:p>
          <a:p>
            <a:pPr marL="914400" lvl="0" indent="-457200">
              <a:lnSpc>
                <a:spcPct val="115000"/>
              </a:lnSpc>
              <a:buClr>
                <a:schemeClr val="bg1">
                  <a:lumMod val="85000"/>
                </a:schemeClr>
              </a:buClr>
              <a:buFont typeface="+mj-lt"/>
              <a:buAutoNum type="arabicPeriod"/>
            </a:pPr>
            <a:r>
              <a:rPr lang="en-US" altLang="zh-TW" sz="2400" dirty="0">
                <a:solidFill>
                  <a:srgbClr val="CBD5E1"/>
                </a:solidFill>
                <a:latin typeface="DM Sans"/>
                <a:sym typeface="DM Sans"/>
              </a:rPr>
              <a:t>Check API server </a:t>
            </a:r>
          </a:p>
          <a:p>
            <a:pPr marL="457200" lvl="7">
              <a:lnSpc>
                <a:spcPct val="115000"/>
              </a:lnSpc>
              <a:buClr>
                <a:schemeClr val="bg1">
                  <a:lumMod val="85000"/>
                </a:schemeClr>
              </a:buClr>
            </a:pP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	curl -</a:t>
            </a:r>
            <a:r>
              <a:rPr lang="en-US" altLang="zh-TW" sz="1200" dirty="0" err="1">
                <a:solidFill>
                  <a:srgbClr val="CBD5E1"/>
                </a:solidFill>
                <a:latin typeface="DM Sans"/>
              </a:rPr>
              <a:t>sS</a:t>
            </a: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 http://127.0.0.1:8000/health</a:t>
            </a:r>
          </a:p>
          <a:p>
            <a:pPr marL="457200" lvl="7">
              <a:lnSpc>
                <a:spcPct val="115000"/>
              </a:lnSpc>
              <a:buClr>
                <a:schemeClr val="bg1">
                  <a:lumMod val="85000"/>
                </a:schemeClr>
              </a:buClr>
            </a:pPr>
            <a:endParaRPr lang="en-US" altLang="zh-TW" sz="1200" dirty="0">
              <a:solidFill>
                <a:srgbClr val="CBD5E1"/>
              </a:solidFill>
              <a:latin typeface="DM Sans"/>
              <a:sym typeface="DM Sans"/>
            </a:endParaRPr>
          </a:p>
          <a:p>
            <a:pPr marL="914400" lvl="0" indent="-457200">
              <a:lnSpc>
                <a:spcPct val="115000"/>
              </a:lnSpc>
              <a:buClr>
                <a:schemeClr val="bg1">
                  <a:lumMod val="85000"/>
                </a:schemeClr>
              </a:buClr>
              <a:buFont typeface="+mj-lt"/>
              <a:buAutoNum type="arabicPeriod"/>
            </a:pPr>
            <a:r>
              <a:rPr lang="en-US" altLang="zh-TW" sz="2400" dirty="0">
                <a:solidFill>
                  <a:srgbClr val="CBD5E1"/>
                </a:solidFill>
                <a:latin typeface="DM Sans"/>
                <a:sym typeface="DM Sans"/>
              </a:rPr>
              <a:t>Check Model name</a:t>
            </a:r>
          </a:p>
          <a:p>
            <a:pPr marL="457200" lvl="1">
              <a:lnSpc>
                <a:spcPct val="115000"/>
              </a:lnSpc>
              <a:buClr>
                <a:schemeClr val="bg1">
                  <a:lumMod val="85000"/>
                </a:schemeClr>
              </a:buClr>
            </a:pPr>
            <a:r>
              <a:rPr lang="en-US" altLang="zh-TW" sz="1600" dirty="0">
                <a:solidFill>
                  <a:srgbClr val="CBD5E1"/>
                </a:solidFill>
                <a:latin typeface="DM Sans"/>
                <a:sym typeface="DM Sans"/>
              </a:rPr>
              <a:t>	</a:t>
            </a:r>
            <a:r>
              <a:rPr lang="en-US" altLang="zh-TW" sz="1200" dirty="0">
                <a:solidFill>
                  <a:srgbClr val="CBD5E1"/>
                </a:solidFill>
                <a:latin typeface="DM Sans"/>
                <a:sym typeface="DM Sans"/>
              </a:rPr>
              <a:t>curl -</a:t>
            </a:r>
            <a:r>
              <a:rPr lang="en-US" altLang="zh-TW" sz="1200" dirty="0" err="1">
                <a:solidFill>
                  <a:srgbClr val="CBD5E1"/>
                </a:solidFill>
                <a:latin typeface="DM Sans"/>
                <a:sym typeface="DM Sans"/>
              </a:rPr>
              <a:t>sS</a:t>
            </a:r>
            <a:r>
              <a:rPr lang="en-US" altLang="zh-TW" sz="1200" dirty="0">
                <a:solidFill>
                  <a:srgbClr val="CBD5E1"/>
                </a:solidFill>
                <a:latin typeface="DM Sans"/>
                <a:sym typeface="DM Sans"/>
              </a:rPr>
              <a:t> http://127.0.0.1:8000/v1/models</a:t>
            </a:r>
          </a:p>
          <a:p>
            <a:pPr marL="457200" lvl="1">
              <a:lnSpc>
                <a:spcPct val="115000"/>
              </a:lnSpc>
              <a:buClr>
                <a:schemeClr val="bg1">
                  <a:lumMod val="85000"/>
                </a:schemeClr>
              </a:buClr>
            </a:pPr>
            <a:endParaRPr lang="en-US" altLang="zh-TW" sz="1600" dirty="0">
              <a:solidFill>
                <a:srgbClr val="CBD5E1"/>
              </a:solidFill>
              <a:latin typeface="DM Sans"/>
              <a:sym typeface="DM Sans"/>
            </a:endParaRPr>
          </a:p>
          <a:p>
            <a:pPr marL="914400" lvl="0" indent="-457200">
              <a:lnSpc>
                <a:spcPct val="115000"/>
              </a:lnSpc>
              <a:buClr>
                <a:schemeClr val="bg1">
                  <a:lumMod val="85000"/>
                </a:schemeClr>
              </a:buClr>
              <a:buFont typeface="+mj-lt"/>
              <a:buAutoNum type="arabicPeriod"/>
            </a:pPr>
            <a:r>
              <a:rPr lang="en-US" altLang="zh-TW" sz="2400" dirty="0">
                <a:solidFill>
                  <a:srgbClr val="CBD5E1"/>
                </a:solidFill>
                <a:latin typeface="DM Sans"/>
                <a:sym typeface="DM Sans"/>
              </a:rPr>
              <a:t>Test chat completion</a:t>
            </a:r>
          </a:p>
          <a:p>
            <a:pPr marL="457200" lvl="3">
              <a:lnSpc>
                <a:spcPct val="115000"/>
              </a:lnSpc>
              <a:buClr>
                <a:schemeClr val="bg1">
                  <a:lumMod val="85000"/>
                </a:schemeClr>
              </a:buClr>
            </a:pP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	curl -</a:t>
            </a:r>
            <a:r>
              <a:rPr lang="en-US" altLang="zh-TW" sz="1200" dirty="0" err="1">
                <a:solidFill>
                  <a:srgbClr val="CBD5E1"/>
                </a:solidFill>
                <a:latin typeface="DM Sans"/>
              </a:rPr>
              <a:t>sS</a:t>
            </a: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 http://127.0.0.1:8000/v1/chat/completions \</a:t>
            </a:r>
            <a:br>
              <a:rPr lang="en-US" altLang="zh-TW" sz="1200" dirty="0">
                <a:solidFill>
                  <a:srgbClr val="CBD5E1"/>
                </a:solidFill>
                <a:latin typeface="DM Sans"/>
              </a:rPr>
            </a:b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	-H "Content-Type: application/</a:t>
            </a:r>
            <a:r>
              <a:rPr lang="en-US" altLang="zh-TW" sz="1200" dirty="0" err="1">
                <a:solidFill>
                  <a:srgbClr val="CBD5E1"/>
                </a:solidFill>
                <a:latin typeface="DM Sans"/>
              </a:rPr>
              <a:t>json</a:t>
            </a: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" \</a:t>
            </a:r>
            <a:br>
              <a:rPr lang="en-US" altLang="zh-TW" sz="1200" dirty="0">
                <a:solidFill>
                  <a:srgbClr val="CBD5E1"/>
                </a:solidFill>
                <a:latin typeface="DM Sans"/>
              </a:rPr>
            </a:b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	-d ‘{</a:t>
            </a:r>
            <a:br>
              <a:rPr lang="en-US" altLang="zh-TW" sz="1200" dirty="0">
                <a:solidFill>
                  <a:srgbClr val="CBD5E1"/>
                </a:solidFill>
                <a:latin typeface="DM Sans"/>
              </a:rPr>
            </a:b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	"model": “nvidia/NVIDIA-Nemotron-3-Nano-30B-A3B-FP8",</a:t>
            </a:r>
            <a:br>
              <a:rPr lang="en-US" altLang="zh-TW" sz="1200" dirty="0">
                <a:solidFill>
                  <a:srgbClr val="CBD5E1"/>
                </a:solidFill>
                <a:latin typeface="DM Sans"/>
              </a:rPr>
            </a:b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	"messages": [</a:t>
            </a:r>
            <a:br>
              <a:rPr lang="en-US" altLang="zh-TW" sz="1200" dirty="0">
                <a:solidFill>
                  <a:srgbClr val="CBD5E1"/>
                </a:solidFill>
                <a:latin typeface="DM Sans"/>
              </a:rPr>
            </a:b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	{</a:t>
            </a:r>
            <a:br>
              <a:rPr lang="en-US" altLang="zh-TW" sz="1200" dirty="0">
                <a:solidFill>
                  <a:srgbClr val="CBD5E1"/>
                </a:solidFill>
                <a:latin typeface="DM Sans"/>
              </a:rPr>
            </a:b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	"role": "user",</a:t>
            </a:r>
            <a:br>
              <a:rPr lang="en-US" altLang="zh-TW" sz="1200" dirty="0">
                <a:solidFill>
                  <a:srgbClr val="CBD5E1"/>
                </a:solidFill>
                <a:latin typeface="DM Sans"/>
              </a:rPr>
            </a:b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	"content": “What is LLM?"</a:t>
            </a:r>
            <a:br>
              <a:rPr lang="en-US" altLang="zh-TW" sz="1200" dirty="0">
                <a:solidFill>
                  <a:srgbClr val="CBD5E1"/>
                </a:solidFill>
                <a:latin typeface="DM Sans"/>
              </a:rPr>
            </a:b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	}</a:t>
            </a:r>
            <a:br>
              <a:rPr lang="en-US" altLang="zh-TW" sz="1200" dirty="0">
                <a:solidFill>
                  <a:srgbClr val="CBD5E1"/>
                </a:solidFill>
                <a:latin typeface="DM Sans"/>
              </a:rPr>
            </a:b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	],</a:t>
            </a:r>
            <a:br>
              <a:rPr lang="en-US" altLang="zh-TW" sz="1200" dirty="0">
                <a:solidFill>
                  <a:srgbClr val="CBD5E1"/>
                </a:solidFill>
                <a:latin typeface="DM Sans"/>
              </a:rPr>
            </a:b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	"</a:t>
            </a:r>
            <a:r>
              <a:rPr lang="en-US" altLang="zh-TW" sz="1200" dirty="0" err="1">
                <a:solidFill>
                  <a:srgbClr val="CBD5E1"/>
                </a:solidFill>
                <a:latin typeface="DM Sans"/>
              </a:rPr>
              <a:t>max_tokens</a:t>
            </a: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": 64,</a:t>
            </a:r>
            <a:br>
              <a:rPr lang="en-US" altLang="zh-TW" sz="1200" dirty="0">
                <a:solidFill>
                  <a:srgbClr val="CBD5E1"/>
                </a:solidFill>
                <a:latin typeface="DM Sans"/>
              </a:rPr>
            </a:b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	"temperature": 0</a:t>
            </a:r>
            <a:br>
              <a:rPr lang="en-US" altLang="zh-TW" sz="1200" dirty="0">
                <a:solidFill>
                  <a:srgbClr val="CBD5E1"/>
                </a:solidFill>
                <a:latin typeface="DM Sans"/>
              </a:rPr>
            </a:br>
            <a:r>
              <a:rPr lang="en-US" altLang="zh-TW" sz="1200" dirty="0">
                <a:solidFill>
                  <a:srgbClr val="CBD5E1"/>
                </a:solidFill>
                <a:latin typeface="DM Sans"/>
              </a:rPr>
              <a:t>	}'</a:t>
            </a:r>
            <a:endParaRPr lang="en-US" altLang="zh-TW" sz="1200" dirty="0">
              <a:solidFill>
                <a:srgbClr val="CBD5E1"/>
              </a:solidFill>
              <a:latin typeface="DM Sans"/>
              <a:sym typeface="DM Sans"/>
            </a:endParaRPr>
          </a:p>
          <a:p>
            <a:pPr marL="457200">
              <a:lnSpc>
                <a:spcPct val="115000"/>
              </a:lnSpc>
            </a:pPr>
            <a:endParaRPr lang="en-US" altLang="zh-TW" sz="2400" dirty="0">
              <a:solidFill>
                <a:srgbClr val="CBD5E1"/>
              </a:solidFill>
              <a:latin typeface="DM Sans"/>
              <a:sym typeface="DM Sans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TW" altLang="en-US" dirty="0">
              <a:sym typeface="DM Sans"/>
            </a:endParaRPr>
          </a:p>
        </p:txBody>
      </p:sp>
      <p:pic>
        <p:nvPicPr>
          <p:cNvPr id="3" name="Google Shape;230;p25" descr="image.png">
            <a:extLst>
              <a:ext uri="{FF2B5EF4-FFF2-40B4-BE49-F238E27FC236}">
                <a16:creationId xmlns:a16="http://schemas.microsoft.com/office/drawing/2014/main" id="{F849B396-95D0-1EF3-FF73-50810887DB7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52126" y="1476375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5227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C114DA18-1DF1-F7E7-5004-D7F00910E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5" descr="image.png">
            <a:extLst>
              <a:ext uri="{FF2B5EF4-FFF2-40B4-BE49-F238E27FC236}">
                <a16:creationId xmlns:a16="http://schemas.microsoft.com/office/drawing/2014/main" id="{F445E144-E983-EB66-41D7-BC2FD2A862B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5">
            <a:extLst>
              <a:ext uri="{FF2B5EF4-FFF2-40B4-BE49-F238E27FC236}">
                <a16:creationId xmlns:a16="http://schemas.microsoft.com/office/drawing/2014/main" id="{87ED49B5-1A1F-F5CC-357D-06A2EF8EE8B9}"/>
              </a:ext>
            </a:extLst>
          </p:cNvPr>
          <p:cNvSpPr txBox="1"/>
          <p:nvPr/>
        </p:nvSpPr>
        <p:spPr>
          <a:xfrm>
            <a:off x="417444" y="1310358"/>
            <a:ext cx="11635408" cy="5202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371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00" dirty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457200" lvl="0">
              <a:lnSpc>
                <a:spcPct val="115000"/>
              </a:lnSpc>
            </a:pPr>
            <a:r>
              <a:rPr lang="en-US" altLang="zh-TW" sz="28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Curl to verify</a:t>
            </a:r>
            <a:r>
              <a:rPr lang="zh-TW" altLang="en-US" sz="28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altLang="zh-TW" sz="2800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(extra)</a:t>
            </a:r>
            <a:endParaRPr lang="en-US" altLang="zh-TW" sz="700" dirty="0">
              <a:solidFill>
                <a:srgbClr val="CBD5E1"/>
              </a:solidFill>
              <a:latin typeface="DM Sans"/>
              <a:sym typeface="DM Sans"/>
            </a:endParaRPr>
          </a:p>
          <a:p>
            <a:pPr marL="457200">
              <a:lnSpc>
                <a:spcPct val="115000"/>
              </a:lnSpc>
            </a:pP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curl -s http://127.0.0.1:8000/v1/chat/completions \</a:t>
            </a:r>
          </a:p>
          <a:p>
            <a:pPr marL="457200">
              <a:lnSpc>
                <a:spcPct val="115000"/>
              </a:lnSpc>
            </a:pP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  -H "Content-Type: application/</a:t>
            </a:r>
            <a:r>
              <a:rPr lang="en-US" altLang="zh-TW" sz="1000" dirty="0" err="1">
                <a:solidFill>
                  <a:srgbClr val="CBD5E1"/>
                </a:solidFill>
                <a:latin typeface="DM Sans"/>
              </a:rPr>
              <a:t>json</a:t>
            </a: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" \</a:t>
            </a:r>
          </a:p>
          <a:p>
            <a:pPr marL="457200">
              <a:lnSpc>
                <a:spcPct val="115000"/>
              </a:lnSpc>
            </a:pP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  -d '{</a:t>
            </a:r>
          </a:p>
          <a:p>
            <a:pPr marL="457200">
              <a:lnSpc>
                <a:spcPct val="115000"/>
              </a:lnSpc>
            </a:pP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    "model": "nvidia/NVIDIA-Nemotron-3-Nano-30B-A3B-FP8",</a:t>
            </a:r>
          </a:p>
          <a:p>
            <a:pPr marL="457200">
              <a:lnSpc>
                <a:spcPct val="115000"/>
              </a:lnSpc>
            </a:pP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    "messages": [</a:t>
            </a:r>
          </a:p>
          <a:p>
            <a:pPr marL="457200">
              <a:lnSpc>
                <a:spcPct val="115000"/>
              </a:lnSpc>
            </a:pP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      {"role": "user", "content": "What is the weather in Taipei? Use tool."}</a:t>
            </a:r>
          </a:p>
          <a:p>
            <a:pPr marL="457200">
              <a:lnSpc>
                <a:spcPct val="115000"/>
              </a:lnSpc>
            </a:pP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    ],</a:t>
            </a:r>
          </a:p>
          <a:p>
            <a:pPr marL="457200">
              <a:lnSpc>
                <a:spcPct val="115000"/>
              </a:lnSpc>
            </a:pP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    "tools": [{</a:t>
            </a:r>
          </a:p>
          <a:p>
            <a:pPr marL="457200">
              <a:lnSpc>
                <a:spcPct val="115000"/>
              </a:lnSpc>
            </a:pP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      "type": "function",</a:t>
            </a:r>
          </a:p>
          <a:p>
            <a:pPr marL="457200">
              <a:lnSpc>
                <a:spcPct val="115000"/>
              </a:lnSpc>
            </a:pP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      "function": {</a:t>
            </a:r>
          </a:p>
          <a:p>
            <a:pPr marL="457200">
              <a:lnSpc>
                <a:spcPct val="115000"/>
              </a:lnSpc>
            </a:pP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        "name": "</a:t>
            </a:r>
            <a:r>
              <a:rPr lang="en-US" altLang="zh-TW" sz="1000" dirty="0" err="1">
                <a:solidFill>
                  <a:srgbClr val="CBD5E1"/>
                </a:solidFill>
                <a:latin typeface="DM Sans"/>
              </a:rPr>
              <a:t>get_weather</a:t>
            </a: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",</a:t>
            </a:r>
          </a:p>
          <a:p>
            <a:pPr marL="457200">
              <a:lnSpc>
                <a:spcPct val="115000"/>
              </a:lnSpc>
            </a:pP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        "description": "Get weather by city",</a:t>
            </a:r>
          </a:p>
          <a:p>
            <a:pPr marL="457200">
              <a:lnSpc>
                <a:spcPct val="115000"/>
              </a:lnSpc>
            </a:pP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        "parameters": {</a:t>
            </a:r>
          </a:p>
          <a:p>
            <a:pPr marL="457200">
              <a:lnSpc>
                <a:spcPct val="115000"/>
              </a:lnSpc>
            </a:pP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          "type": "object",</a:t>
            </a:r>
          </a:p>
          <a:p>
            <a:pPr marL="457200">
              <a:lnSpc>
                <a:spcPct val="115000"/>
              </a:lnSpc>
            </a:pP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          "properties": {</a:t>
            </a:r>
          </a:p>
          <a:p>
            <a:pPr marL="457200">
              <a:lnSpc>
                <a:spcPct val="115000"/>
              </a:lnSpc>
            </a:pP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            "location": {"type": "string"},</a:t>
            </a:r>
          </a:p>
          <a:p>
            <a:pPr marL="457200">
              <a:lnSpc>
                <a:spcPct val="115000"/>
              </a:lnSpc>
            </a:pP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            "unit": {"type": "string", "</a:t>
            </a:r>
            <a:r>
              <a:rPr lang="en-US" altLang="zh-TW" sz="1000" dirty="0" err="1">
                <a:solidFill>
                  <a:srgbClr val="CBD5E1"/>
                </a:solidFill>
                <a:latin typeface="DM Sans"/>
              </a:rPr>
              <a:t>enum</a:t>
            </a: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": ["</a:t>
            </a:r>
            <a:r>
              <a:rPr lang="en-US" altLang="zh-TW" sz="1000" dirty="0" err="1">
                <a:solidFill>
                  <a:srgbClr val="CBD5E1"/>
                </a:solidFill>
                <a:latin typeface="DM Sans"/>
              </a:rPr>
              <a:t>celsius</a:t>
            </a: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", "</a:t>
            </a:r>
            <a:r>
              <a:rPr lang="en-US" altLang="zh-TW" sz="1000" dirty="0" err="1">
                <a:solidFill>
                  <a:srgbClr val="CBD5E1"/>
                </a:solidFill>
                <a:latin typeface="DM Sans"/>
              </a:rPr>
              <a:t>fahrenheit</a:t>
            </a: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"]}</a:t>
            </a:r>
          </a:p>
          <a:p>
            <a:pPr marL="457200">
              <a:lnSpc>
                <a:spcPct val="115000"/>
              </a:lnSpc>
            </a:pP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          },</a:t>
            </a:r>
          </a:p>
          <a:p>
            <a:pPr marL="457200">
              <a:lnSpc>
                <a:spcPct val="115000"/>
              </a:lnSpc>
            </a:pP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          "required": ["location"]</a:t>
            </a:r>
          </a:p>
          <a:p>
            <a:pPr marL="457200">
              <a:lnSpc>
                <a:spcPct val="115000"/>
              </a:lnSpc>
            </a:pP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        }</a:t>
            </a:r>
          </a:p>
          <a:p>
            <a:pPr marL="457200">
              <a:lnSpc>
                <a:spcPct val="115000"/>
              </a:lnSpc>
            </a:pP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      }</a:t>
            </a:r>
          </a:p>
          <a:p>
            <a:pPr marL="457200">
              <a:lnSpc>
                <a:spcPct val="115000"/>
              </a:lnSpc>
            </a:pP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    }],</a:t>
            </a:r>
          </a:p>
          <a:p>
            <a:pPr marL="457200">
              <a:lnSpc>
                <a:spcPct val="115000"/>
              </a:lnSpc>
            </a:pP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    "</a:t>
            </a:r>
            <a:r>
              <a:rPr lang="en-US" altLang="zh-TW" sz="1000" dirty="0" err="1">
                <a:solidFill>
                  <a:srgbClr val="CBD5E1"/>
                </a:solidFill>
                <a:latin typeface="DM Sans"/>
              </a:rPr>
              <a:t>tool_choice</a:t>
            </a: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": "auto",</a:t>
            </a:r>
          </a:p>
          <a:p>
            <a:pPr marL="457200">
              <a:lnSpc>
                <a:spcPct val="115000"/>
              </a:lnSpc>
            </a:pP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    "</a:t>
            </a:r>
            <a:r>
              <a:rPr lang="en-US" altLang="zh-TW" sz="1000" dirty="0" err="1">
                <a:solidFill>
                  <a:srgbClr val="CBD5E1"/>
                </a:solidFill>
                <a:latin typeface="DM Sans"/>
              </a:rPr>
              <a:t>max_tokens</a:t>
            </a: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": 128,</a:t>
            </a:r>
          </a:p>
          <a:p>
            <a:pPr marL="457200">
              <a:lnSpc>
                <a:spcPct val="115000"/>
              </a:lnSpc>
            </a:pP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    "temperature": 0</a:t>
            </a:r>
          </a:p>
          <a:p>
            <a:pPr marL="457200">
              <a:lnSpc>
                <a:spcPct val="115000"/>
              </a:lnSpc>
            </a:pPr>
            <a:r>
              <a:rPr lang="en-US" altLang="zh-TW" sz="1000" dirty="0">
                <a:solidFill>
                  <a:srgbClr val="CBD5E1"/>
                </a:solidFill>
                <a:latin typeface="DM Sans"/>
              </a:rPr>
              <a:t>  }'</a:t>
            </a:r>
            <a:endParaRPr lang="zh-TW" altLang="en-US" sz="2000" dirty="0">
              <a:sym typeface="DM Sans"/>
            </a:endParaRPr>
          </a:p>
        </p:txBody>
      </p:sp>
      <p:sp>
        <p:nvSpPr>
          <p:cNvPr id="225" name="Google Shape;225;p25">
            <a:extLst>
              <a:ext uri="{FF2B5EF4-FFF2-40B4-BE49-F238E27FC236}">
                <a16:creationId xmlns:a16="http://schemas.microsoft.com/office/drawing/2014/main" id="{34A263C9-11A6-743D-6CDF-DB30394FCD7D}"/>
              </a:ext>
            </a:extLst>
          </p:cNvPr>
          <p:cNvSpPr txBox="1"/>
          <p:nvPr/>
        </p:nvSpPr>
        <p:spPr>
          <a:xfrm>
            <a:off x="809625" y="571500"/>
            <a:ext cx="11351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Setup with </a:t>
            </a:r>
            <a:r>
              <a:rPr lang="en-US" sz="36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Docker vLLM</a:t>
            </a:r>
            <a:endParaRPr dirty="0"/>
          </a:p>
        </p:txBody>
      </p:sp>
      <p:sp>
        <p:nvSpPr>
          <p:cNvPr id="226" name="Google Shape;226;p25">
            <a:extLst>
              <a:ext uri="{FF2B5EF4-FFF2-40B4-BE49-F238E27FC236}">
                <a16:creationId xmlns:a16="http://schemas.microsoft.com/office/drawing/2014/main" id="{D201FB7C-BDAC-6AF7-10FD-A8B588226A6A}"/>
              </a:ext>
            </a:extLst>
          </p:cNvPr>
          <p:cNvSpPr/>
          <p:nvPr/>
        </p:nvSpPr>
        <p:spPr>
          <a:xfrm>
            <a:off x="571500" y="571500"/>
            <a:ext cx="47625" cy="5524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25" descr="image.png">
            <a:extLst>
              <a:ext uri="{FF2B5EF4-FFF2-40B4-BE49-F238E27FC236}">
                <a16:creationId xmlns:a16="http://schemas.microsoft.com/office/drawing/2014/main" id="{FD8BFA94-A4ED-8DD7-AFC6-05B8924B5C5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4350" y="153286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1051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0"/>
          <p:cNvSpPr/>
          <p:nvPr/>
        </p:nvSpPr>
        <p:spPr>
          <a:xfrm>
            <a:off x="5619750" y="2149822"/>
            <a:ext cx="952500" cy="57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0"/>
          <p:cNvSpPr txBox="1"/>
          <p:nvPr/>
        </p:nvSpPr>
        <p:spPr>
          <a:xfrm>
            <a:off x="2470546" y="2397472"/>
            <a:ext cx="7250906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Questions &amp; Discussion</a:t>
            </a:r>
            <a:endParaRPr/>
          </a:p>
        </p:txBody>
      </p:sp>
      <p:sp>
        <p:nvSpPr>
          <p:cNvPr id="273" name="Google Shape;273;p30"/>
          <p:cNvSpPr txBox="1"/>
          <p:nvPr/>
        </p:nvSpPr>
        <p:spPr>
          <a:xfrm>
            <a:off x="3709987" y="3597622"/>
            <a:ext cx="47721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Model Inference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1177</Words>
  <Application>Microsoft Office PowerPoint</Application>
  <PresentationFormat>寬螢幕</PresentationFormat>
  <Paragraphs>264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3" baseType="lpstr">
      <vt:lpstr>DM Sans</vt:lpstr>
      <vt:lpstr>Urbanist ExtraBold</vt:lpstr>
      <vt:lpstr>Calibri</vt:lpstr>
      <vt:lpstr>Roboto Mono</vt:lpstr>
      <vt:lpstr>Urbanist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蔡顓澤</cp:lastModifiedBy>
  <cp:revision>31</cp:revision>
  <dcterms:modified xsi:type="dcterms:W3CDTF">2026-05-20T00:50:23Z</dcterms:modified>
</cp:coreProperties>
</file>